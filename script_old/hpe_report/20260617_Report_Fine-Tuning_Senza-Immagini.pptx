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80" r:id="rId3"/>
    <p:sldId id="267" r:id="rId4"/>
    <p:sldId id="262" r:id="rId5"/>
    <p:sldId id="266" r:id="rId6"/>
    <p:sldId id="264" r:id="rId7"/>
    <p:sldId id="265" r:id="rId8"/>
    <p:sldId id="269" r:id="rId9"/>
    <p:sldId id="261" r:id="rId10"/>
    <p:sldId id="270" r:id="rId11"/>
    <p:sldId id="274" r:id="rId12"/>
    <p:sldId id="263" r:id="rId13"/>
    <p:sldId id="275" r:id="rId14"/>
    <p:sldId id="271" r:id="rId15"/>
    <p:sldId id="273" r:id="rId16"/>
    <p:sldId id="272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25A68-EC2D-444F-BB1F-E294586CC9BC}" type="datetimeFigureOut">
              <a:rPr lang="it-IT" smtClean="0"/>
              <a:t>23/06/2026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660B7-AE0C-434A-941C-6E8C458F233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866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33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6519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6714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31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5196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6580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036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5700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660B7-AE0C-434A-941C-6E8C458F2335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32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C6837B-0F25-4532-E0FE-F5EAB9D3D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55AB32-6342-CEB2-0007-0A07EC321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F5C39A-24CF-82F0-09EF-8E64E460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868F2-C453-41E2-8EBE-3F10FD2BFE26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12F2DC-E360-DA33-60DC-69211970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8FE525-BCE6-5358-50CA-E961C301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348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F3F15C-DB07-3FE0-C97E-7D82B895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81A288-2645-0EAF-217D-5315FE42A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75D540-50A2-2A03-5DE0-A6EB131B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C169-831A-42EB-ACAB-AEF882A7961E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8D010E-3287-8930-68B3-E0AA29FC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AC51A5-D692-B501-A33B-E6C61DEA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8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BD3242-C286-1B25-FB7D-894827B5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28897F-7EFF-0B6C-5306-87B504597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4EE64B-D5C6-BF36-D137-97F5DC69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A7D8-40D0-4A3A-80CA-6665BC33787D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14E3E9-0BD5-7AD2-356D-B7486EE8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F19589-3855-5288-4D98-B49CB142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5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BB360A-1EB1-6F55-73A7-C8DF4432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FE04D2-C726-C91B-433E-A3B40C576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4668C2-2F62-8713-5E9E-9486ED762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9FE3CC0-C9A8-1C65-8409-BF5FC678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77E2-A9DD-4A3A-8104-FADFE5F4273A}" type="datetime1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084218-2589-8E0E-A89E-4E022717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BD1E2EE-5E44-0F7A-92EC-5878D879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16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B076A-823D-21B1-F2F6-B2FC6A59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474CBB-2711-C0B5-7F3E-57414CA8F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E319C1D-C1E2-4CE2-96D8-9651626D1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73A7444-2734-AB3C-962B-6F23A2C9A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7745480-6397-889C-194F-4C14E8EC2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4BE5105-3F28-E062-53DD-70023094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3B5E-72CF-485B-B96A-4CA9F1A7A1C9}" type="datetime1">
              <a:rPr lang="it-IT" smtClean="0"/>
              <a:t>23/06/2026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EC42217-ED48-0881-9DCA-DDFA7B7F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1A02823-A53A-0F2F-746C-058A359D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566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CCFC07-D5F1-2A5C-D5E2-B8451867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58455F6-3F21-0518-4654-87A1AF17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BE93A-A822-4796-8804-844C0F5BEE8C}" type="datetime1">
              <a:rPr lang="it-IT" smtClean="0"/>
              <a:t>23/06/2026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965F7C-06B4-E264-BEDE-68567035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C4E17D-E832-9D6A-B23D-76803C50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07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8C8D4AF-CF5F-A35B-56D3-615C19BC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C91B-ED7E-4ABF-8A76-0B3A37FB0B01}" type="datetime1">
              <a:rPr lang="it-IT" smtClean="0"/>
              <a:t>23/06/2026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9023B68-E80D-EAC2-B059-0DD7079A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FE89CC-E66A-F63C-E157-6DA5DD98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9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495E3-95A0-EA14-4510-60A7201B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AEAECA-B573-426A-1551-695864375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AB686B3-F54A-9D5E-DD21-DF6FD33FA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2350B3-34AE-E17A-C3FA-8558FD8B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E49C-47BD-49F1-A3ED-9974D1F7E813}" type="datetime1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60A173F-7F6C-718A-BC06-CFE94615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39BB81-FE13-9738-88D6-67997714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599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A5B384-A687-7784-8030-2E1EDFDB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F30F1FE-5264-2D0F-6851-4EB075BCE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762815D-F39C-495E-3A1F-5110560B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F92026-99F1-7BA6-21E7-E70A4075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02B1-7442-484E-B158-13F1CFB48582}" type="datetime1">
              <a:rPr lang="it-IT" smtClean="0"/>
              <a:t>23/06/2026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14C9A4-CE5B-39CB-FC63-D92F7BE4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F6E33A-4E59-DB40-C032-70C40BD9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085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D04EE8-49B9-E8A7-8A0E-BE335809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3A6B491-20C7-2385-D413-DD230FE2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60A401-42A3-A52A-92BE-BCA1EF14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0C5F-D0DE-4209-883A-78646A6F2FE7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56A251-DE89-1EC7-9E4D-2A9E1A70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7EBC4D-C882-DAD8-80D2-8929C855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648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507F649-A339-FEEC-2693-DA8D43649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2E2B486-4DCC-191A-9ED8-09B8A1119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631299-3EE4-78F3-6BED-4BBE74BD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E9E61-8ED0-43E5-853D-A3B87328F083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B44F19-5DDA-E1E1-5ADC-E78CED43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075C76-83C9-2921-4A90-DA794953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760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F9A3791-5611-A747-B764-041234E1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122704-1503-F5E7-28E8-F2DAC911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E82D77-FD8E-4376-4432-A6A0CF301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159C1-E120-44DA-8027-21E8899D2D13}" type="datetime1">
              <a:rPr lang="it-IT" smtClean="0"/>
              <a:t>23/06/2026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7211A1-749F-7828-B887-280C8A97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89C94E-5B51-F1A4-70D3-CB29D648C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EB17F-A4B5-4302-9961-5A39DC8A32A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521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8B1650-A1C0-D65C-CFCE-FF205EE71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dirty="0"/>
              <a:t>Yolo26x-Pose</a:t>
            </a:r>
            <a:br>
              <a:rPr lang="it-IT" dirty="0"/>
            </a:br>
            <a:r>
              <a:rPr lang="it-IT" sz="4000" dirty="0"/>
              <a:t>vs</a:t>
            </a:r>
            <a:br>
              <a:rPr lang="it-IT" dirty="0"/>
            </a:br>
            <a:r>
              <a:rPr lang="it-IT" dirty="0"/>
              <a:t>Yolo26x-Detection  ||  </a:t>
            </a:r>
            <a:r>
              <a:rPr lang="it-IT" dirty="0" err="1"/>
              <a:t>VitPose</a:t>
            </a:r>
            <a:r>
              <a:rPr lang="it-IT" dirty="0"/>
              <a:t>++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97E168-8EF4-26E7-1985-FF9A7F4B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0038"/>
            <a:ext cx="9144000" cy="1655762"/>
          </a:xfrm>
        </p:spPr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comparison</a:t>
            </a:r>
            <a:r>
              <a:rPr lang="it-IT" dirty="0"/>
              <a:t> made with </a:t>
            </a:r>
            <a:r>
              <a:rPr lang="it-IT" dirty="0" err="1"/>
              <a:t>two</a:t>
            </a:r>
            <a:r>
              <a:rPr lang="it-IT" dirty="0"/>
              <a:t> sub-datasets </a:t>
            </a:r>
            <a:r>
              <a:rPr lang="it-IT" dirty="0" err="1"/>
              <a:t>extracted</a:t>
            </a:r>
            <a:r>
              <a:rPr lang="it-IT" dirty="0"/>
              <a:t> from </a:t>
            </a:r>
            <a:r>
              <a:rPr lang="it-IT" dirty="0" err="1"/>
              <a:t>SwimXYZ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751D1E2-1667-3AF6-F662-825CAFFE7B1A}"/>
              </a:ext>
            </a:extLst>
          </p:cNvPr>
          <p:cNvSpPr/>
          <p:nvPr/>
        </p:nvSpPr>
        <p:spPr>
          <a:xfrm>
            <a:off x="4023360" y="1270000"/>
            <a:ext cx="41656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C7E0263-6BB0-D39B-4A38-963F27C51633}"/>
              </a:ext>
            </a:extLst>
          </p:cNvPr>
          <p:cNvSpPr/>
          <p:nvPr/>
        </p:nvSpPr>
        <p:spPr>
          <a:xfrm>
            <a:off x="1524000" y="2489518"/>
            <a:ext cx="9144000" cy="741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219738-5D2F-7667-8225-A43C6463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0269" y="6356350"/>
            <a:ext cx="6711462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9C5E209-626D-BCE6-2090-D3FE8974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16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0751D1E2-1667-3AF6-F662-825CAFFE7B1A}"/>
              </a:ext>
            </a:extLst>
          </p:cNvPr>
          <p:cNvSpPr/>
          <p:nvPr/>
        </p:nvSpPr>
        <p:spPr>
          <a:xfrm>
            <a:off x="4023360" y="1270000"/>
            <a:ext cx="41656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C7E0263-6BB0-D39B-4A38-963F27C51633}"/>
              </a:ext>
            </a:extLst>
          </p:cNvPr>
          <p:cNvSpPr/>
          <p:nvPr/>
        </p:nvSpPr>
        <p:spPr>
          <a:xfrm>
            <a:off x="1524000" y="2489518"/>
            <a:ext cx="9144000" cy="741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ottotitolo 2">
            <a:extLst>
              <a:ext uri="{FF2B5EF4-FFF2-40B4-BE49-F238E27FC236}">
                <a16:creationId xmlns:a16="http://schemas.microsoft.com/office/drawing/2014/main" id="{9AEF9DCD-21B0-F9A3-6D61-83862A912720}"/>
              </a:ext>
            </a:extLst>
          </p:cNvPr>
          <p:cNvSpPr txBox="1">
            <a:spLocks/>
          </p:cNvSpPr>
          <p:nvPr/>
        </p:nvSpPr>
        <p:spPr>
          <a:xfrm>
            <a:off x="1740088" y="140478"/>
            <a:ext cx="9144000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Index of the key questions addressed</a:t>
            </a:r>
            <a:endParaRPr lang="it-IT" b="1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9F8E93E-EBDF-C0C1-7A98-47F50660C54D}"/>
              </a:ext>
            </a:extLst>
          </p:cNvPr>
          <p:cNvSpPr txBox="1"/>
          <p:nvPr/>
        </p:nvSpPr>
        <p:spPr>
          <a:xfrm>
            <a:off x="401320" y="902176"/>
            <a:ext cx="97993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Datasets</a:t>
            </a:r>
          </a:p>
          <a:p>
            <a:r>
              <a:rPr lang="en-US" dirty="0"/>
              <a:t>1) What kind of datasets can be derived from </a:t>
            </a:r>
            <a:r>
              <a:rPr lang="en-US" dirty="0" err="1"/>
              <a:t>SwimXYZ</a:t>
            </a:r>
            <a:r>
              <a:rPr lang="en-US" dirty="0"/>
              <a:t> to train, evaluate and compare the performance of Yolo26x-Pose and </a:t>
            </a:r>
            <a:r>
              <a:rPr lang="en-US" dirty="0" err="1"/>
              <a:t>VitPose</a:t>
            </a:r>
            <a:r>
              <a:rPr lang="en-US" dirty="0"/>
              <a:t>++?</a:t>
            </a:r>
          </a:p>
          <a:p>
            <a:r>
              <a:rPr lang="en-US" dirty="0"/>
              <a:t>2) What are the data preparation and cleaning tasks to produce the derived datasets?</a:t>
            </a:r>
          </a:p>
          <a:p>
            <a:endParaRPr lang="en-US" dirty="0"/>
          </a:p>
          <a:p>
            <a:r>
              <a:rPr lang="it-IT" b="1" dirty="0"/>
              <a:t>HPE Models Training</a:t>
            </a:r>
          </a:p>
          <a:p>
            <a:r>
              <a:rPr lang="it-IT" dirty="0"/>
              <a:t>3) How to </a:t>
            </a:r>
            <a:r>
              <a:rPr lang="it-IT" dirty="0" err="1"/>
              <a:t>select</a:t>
            </a:r>
            <a:r>
              <a:rPr lang="it-IT" dirty="0"/>
              <a:t> the </a:t>
            </a:r>
            <a:r>
              <a:rPr lang="it-IT" dirty="0" err="1"/>
              <a:t>hyperparameters</a:t>
            </a:r>
            <a:r>
              <a:rPr lang="it-IT" dirty="0"/>
              <a:t> for training the models on the </a:t>
            </a:r>
            <a:r>
              <a:rPr lang="it-IT" dirty="0" err="1"/>
              <a:t>derived</a:t>
            </a:r>
            <a:r>
              <a:rPr lang="it-IT" dirty="0"/>
              <a:t> datasets</a:t>
            </a:r>
            <a:r>
              <a:rPr lang="en-US" dirty="0"/>
              <a:t>?</a:t>
            </a:r>
          </a:p>
          <a:p>
            <a:r>
              <a:rPr lang="en-US" dirty="0"/>
              <a:t>4)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overall best </a:t>
            </a:r>
            <a:r>
              <a:rPr lang="it-IT" dirty="0" err="1"/>
              <a:t>trained</a:t>
            </a:r>
            <a:r>
              <a:rPr lang="it-IT" dirty="0"/>
              <a:t> model to </a:t>
            </a:r>
            <a:r>
              <a:rPr lang="it-IT" dirty="0" err="1"/>
              <a:t>predict</a:t>
            </a:r>
            <a:r>
              <a:rPr lang="it-IT" dirty="0"/>
              <a:t> </a:t>
            </a:r>
            <a:r>
              <a:rPr lang="it-IT" dirty="0" err="1"/>
              <a:t>KPs</a:t>
            </a:r>
            <a:r>
              <a:rPr lang="it-IT" dirty="0"/>
              <a:t> for the </a:t>
            </a:r>
            <a:r>
              <a:rPr lang="it-IT" dirty="0" err="1"/>
              <a:t>Derived</a:t>
            </a:r>
            <a:r>
              <a:rPr lang="it-IT" dirty="0"/>
              <a:t> datasets?</a:t>
            </a:r>
          </a:p>
          <a:p>
            <a:r>
              <a:rPr lang="it-IT" dirty="0"/>
              <a:t>5) How can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derived</a:t>
            </a:r>
            <a:r>
              <a:rPr lang="it-IT" dirty="0"/>
              <a:t> datasets mitigate the risk of </a:t>
            </a:r>
            <a:r>
              <a:rPr lang="it-IT" dirty="0" err="1"/>
              <a:t>overfitting</a:t>
            </a:r>
            <a:r>
              <a:rPr lang="it-IT" dirty="0"/>
              <a:t>? </a:t>
            </a:r>
          </a:p>
          <a:p>
            <a:r>
              <a:rPr lang="it-IT" dirty="0"/>
              <a:t>6) What’s the </a:t>
            </a:r>
            <a:r>
              <a:rPr lang="it-IT" dirty="0" err="1"/>
              <a:t>difference</a:t>
            </a:r>
            <a:r>
              <a:rPr lang="it-IT" dirty="0"/>
              <a:t> training the models with a </a:t>
            </a:r>
            <a:r>
              <a:rPr lang="it-IT" dirty="0" err="1"/>
              <a:t>specialized</a:t>
            </a:r>
            <a:r>
              <a:rPr lang="it-IT" dirty="0"/>
              <a:t> dataset (with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entire</a:t>
            </a:r>
            <a:r>
              <a:rPr lang="it-IT" dirty="0"/>
              <a:t> </a:t>
            </a:r>
            <a:r>
              <a:rPr lang="it-IT" dirty="0" err="1"/>
              <a:t>swimmers</a:t>
            </a:r>
            <a:r>
              <a:rPr lang="it-IT" dirty="0"/>
              <a:t>), or </a:t>
            </a:r>
            <a:r>
              <a:rPr lang="it-IT" dirty="0" err="1"/>
              <a:t>another</a:t>
            </a:r>
            <a:r>
              <a:rPr lang="it-IT" dirty="0"/>
              <a:t> with a </a:t>
            </a:r>
            <a:r>
              <a:rPr lang="it-IT" dirty="0" err="1"/>
              <a:t>greater</a:t>
            </a:r>
            <a:r>
              <a:rPr lang="it-IT" dirty="0"/>
              <a:t> </a:t>
            </a:r>
            <a:r>
              <a:rPr lang="it-IT" dirty="0" err="1"/>
              <a:t>variety</a:t>
            </a:r>
            <a:r>
              <a:rPr lang="it-IT" dirty="0"/>
              <a:t> of </a:t>
            </a:r>
            <a:r>
              <a:rPr lang="it-IT" dirty="0" err="1"/>
              <a:t>elements</a:t>
            </a:r>
            <a:r>
              <a:rPr lang="it-IT" dirty="0"/>
              <a:t> (</a:t>
            </a:r>
            <a:r>
              <a:rPr lang="it-IT" dirty="0" err="1"/>
              <a:t>also</a:t>
            </a:r>
            <a:r>
              <a:rPr lang="it-IT" dirty="0"/>
              <a:t> frames of </a:t>
            </a:r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swimmers</a:t>
            </a:r>
            <a:r>
              <a:rPr lang="it-IT" dirty="0"/>
              <a:t> and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swimming</a:t>
            </a:r>
            <a:r>
              <a:rPr lang="it-IT" dirty="0"/>
              <a:t> pool)</a:t>
            </a:r>
          </a:p>
          <a:p>
            <a:endParaRPr lang="it-IT" dirty="0"/>
          </a:p>
          <a:p>
            <a:r>
              <a:rPr lang="it-IT" b="1" dirty="0"/>
              <a:t>Models Performance </a:t>
            </a:r>
            <a:r>
              <a:rPr lang="it-IT" b="1" dirty="0" err="1"/>
              <a:t>Tests</a:t>
            </a:r>
            <a:endParaRPr lang="it-IT" b="1" dirty="0"/>
          </a:p>
          <a:p>
            <a:r>
              <a:rPr lang="it-IT" dirty="0"/>
              <a:t>7) How </a:t>
            </a:r>
            <a:r>
              <a:rPr lang="it-IT" dirty="0" err="1"/>
              <a:t>does</a:t>
            </a:r>
            <a:r>
              <a:rPr lang="it-IT" dirty="0"/>
              <a:t> the </a:t>
            </a:r>
            <a:r>
              <a:rPr lang="it-IT" dirty="0" err="1"/>
              <a:t>threshold</a:t>
            </a:r>
            <a:r>
              <a:rPr lang="it-IT" dirty="0"/>
              <a:t> on KP </a:t>
            </a:r>
            <a:r>
              <a:rPr lang="it-IT" dirty="0" err="1"/>
              <a:t>detection</a:t>
            </a:r>
            <a:r>
              <a:rPr lang="it-IT" dirty="0"/>
              <a:t> confidence </a:t>
            </a:r>
            <a:r>
              <a:rPr lang="it-IT" dirty="0" err="1"/>
              <a:t>influence</a:t>
            </a:r>
            <a:r>
              <a:rPr lang="it-IT" dirty="0"/>
              <a:t> performance?</a:t>
            </a:r>
          </a:p>
          <a:p>
            <a:r>
              <a:rPr lang="it-IT" dirty="0"/>
              <a:t>8) </a:t>
            </a:r>
            <a:r>
              <a:rPr lang="it-IT" dirty="0" err="1"/>
              <a:t>What</a:t>
            </a:r>
            <a:r>
              <a:rPr lang="it-IT" dirty="0"/>
              <a:t> are the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difficult</a:t>
            </a:r>
            <a:r>
              <a:rPr lang="it-IT" dirty="0"/>
              <a:t> KP to </a:t>
            </a:r>
            <a:r>
              <a:rPr lang="it-IT" dirty="0" err="1"/>
              <a:t>detect</a:t>
            </a:r>
            <a:r>
              <a:rPr lang="it-IT" dirty="0"/>
              <a:t> for a </a:t>
            </a:r>
            <a:r>
              <a:rPr lang="it-IT" dirty="0" err="1"/>
              <a:t>trained</a:t>
            </a:r>
            <a:r>
              <a:rPr lang="it-IT" dirty="0"/>
              <a:t> model?</a:t>
            </a:r>
          </a:p>
          <a:p>
            <a:r>
              <a:rPr lang="it-IT" dirty="0"/>
              <a:t>9)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best </a:t>
            </a:r>
            <a:r>
              <a:rPr lang="it-IT" dirty="0" err="1"/>
              <a:t>trained</a:t>
            </a:r>
            <a:r>
              <a:rPr lang="it-IT" dirty="0"/>
              <a:t> model to </a:t>
            </a: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HPE KP?</a:t>
            </a:r>
          </a:p>
          <a:p>
            <a:r>
              <a:rPr lang="it-IT" dirty="0"/>
              <a:t>10) How can Cross-</a:t>
            </a:r>
            <a:r>
              <a:rPr lang="it-IT" dirty="0" err="1"/>
              <a:t>Tests</a:t>
            </a:r>
            <a:r>
              <a:rPr lang="it-IT" dirty="0"/>
              <a:t> help to </a:t>
            </a:r>
            <a:r>
              <a:rPr lang="it-IT" dirty="0" err="1"/>
              <a:t>assess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global HPE and </a:t>
            </a:r>
            <a:r>
              <a:rPr lang="it-IT" dirty="0" err="1"/>
              <a:t>individual</a:t>
            </a:r>
            <a:r>
              <a:rPr lang="it-IT" dirty="0"/>
              <a:t> KP </a:t>
            </a:r>
            <a:r>
              <a:rPr lang="it-IT" dirty="0" err="1"/>
              <a:t>detection</a:t>
            </a:r>
            <a:r>
              <a:rPr lang="it-IT" dirty="0"/>
              <a:t> performance, </a:t>
            </a:r>
            <a:r>
              <a:rPr lang="it-IT" dirty="0" err="1"/>
              <a:t>when</a:t>
            </a:r>
            <a:r>
              <a:rPr lang="it-IT" dirty="0"/>
              <a:t> models are </a:t>
            </a:r>
            <a:r>
              <a:rPr lang="it-IT" dirty="0" err="1"/>
              <a:t>trained</a:t>
            </a:r>
            <a:r>
              <a:rPr lang="it-IT" dirty="0"/>
              <a:t> on the more </a:t>
            </a:r>
            <a:r>
              <a:rPr lang="it-IT" dirty="0" err="1"/>
              <a:t>varied</a:t>
            </a:r>
            <a:r>
              <a:rPr lang="it-IT" dirty="0"/>
              <a:t> dataset and </a:t>
            </a:r>
            <a:r>
              <a:rPr lang="it-IT" dirty="0" err="1"/>
              <a:t>tested</a:t>
            </a:r>
            <a:r>
              <a:rPr lang="it-IT" dirty="0"/>
              <a:t> on the </a:t>
            </a:r>
            <a:r>
              <a:rPr lang="it-IT" dirty="0" err="1"/>
              <a:t>specialized</a:t>
            </a:r>
            <a:r>
              <a:rPr lang="it-IT" dirty="0"/>
              <a:t> «</a:t>
            </a:r>
            <a:r>
              <a:rPr lang="it-IT" dirty="0" err="1"/>
              <a:t>entire-swimmer</a:t>
            </a:r>
            <a:r>
              <a:rPr lang="it-IT" dirty="0"/>
              <a:t>» dataset?</a:t>
            </a:r>
            <a:endParaRPr lang="en-US" dirty="0"/>
          </a:p>
        </p:txBody>
      </p:sp>
      <p:sp>
        <p:nvSpPr>
          <p:cNvPr id="17" name="Segnaposto piè di pagina 16">
            <a:extLst>
              <a:ext uri="{FF2B5EF4-FFF2-40B4-BE49-F238E27FC236}">
                <a16:creationId xmlns:a16="http://schemas.microsoft.com/office/drawing/2014/main" id="{8A5CCA7C-7327-0E78-5BE8-4DDD8C72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1120" y="6356350"/>
            <a:ext cx="696976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0FCB833F-7BD1-7DA0-70A7-80D518B7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2</a:t>
            </a:fld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27964E2-8BB3-AA31-8259-DB1C003B3632}"/>
              </a:ext>
            </a:extLst>
          </p:cNvPr>
          <p:cNvSpPr txBox="1"/>
          <p:nvPr/>
        </p:nvSpPr>
        <p:spPr>
          <a:xfrm>
            <a:off x="9428480" y="877511"/>
            <a:ext cx="24942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 </a:t>
            </a:r>
          </a:p>
          <a:p>
            <a:pPr algn="r"/>
            <a:r>
              <a:rPr lang="en-US" dirty="0"/>
              <a:t>(Slide 3, 4, 8,15)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(Slide 4, 5)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/>
              <a:t>(Slide 6, 7)</a:t>
            </a:r>
          </a:p>
          <a:p>
            <a:pPr algn="r"/>
            <a:r>
              <a:rPr lang="en-US" dirty="0"/>
              <a:t>(Slide 7 - )</a:t>
            </a:r>
          </a:p>
          <a:p>
            <a:pPr algn="r"/>
            <a:r>
              <a:rPr lang="en-US" dirty="0"/>
              <a:t>(Slide 4, 15, 16, 18)</a:t>
            </a:r>
          </a:p>
          <a:p>
            <a:pPr algn="r"/>
            <a:r>
              <a:rPr lang="en-US" dirty="0"/>
              <a:t>	(Slide </a:t>
            </a:r>
            <a:r>
              <a:rPr lang="it-IT" dirty="0"/>
              <a:t>4, 7, 8, 9, 10, 15, 16, 18)</a:t>
            </a:r>
          </a:p>
          <a:p>
            <a:pPr algn="r"/>
            <a:endParaRPr lang="it-IT" dirty="0"/>
          </a:p>
          <a:p>
            <a:pPr algn="r"/>
            <a:endParaRPr lang="it-IT" dirty="0"/>
          </a:p>
          <a:p>
            <a:pPr algn="r"/>
            <a:endParaRPr lang="it-IT" dirty="0"/>
          </a:p>
          <a:p>
            <a:pPr algn="r"/>
            <a:r>
              <a:rPr lang="it-IT" dirty="0"/>
              <a:t>(Slide 10, 16)</a:t>
            </a:r>
          </a:p>
          <a:p>
            <a:pPr algn="r"/>
            <a:r>
              <a:rPr lang="it-IT" dirty="0"/>
              <a:t>(Slide 17, 19,20)</a:t>
            </a:r>
          </a:p>
          <a:p>
            <a:pPr algn="r"/>
            <a:r>
              <a:rPr lang="it-IT" dirty="0"/>
              <a:t>(Slide 17,18,20)</a:t>
            </a:r>
          </a:p>
          <a:p>
            <a:pPr algn="r"/>
            <a:r>
              <a:rPr lang="it-IT" dirty="0"/>
              <a:t>(Slide 15, 16, 17, </a:t>
            </a:r>
          </a:p>
          <a:p>
            <a:pPr algn="r"/>
            <a:r>
              <a:rPr lang="it-IT" dirty="0"/>
              <a:t>18, 19, 20)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4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97E168-8EF4-26E7-1985-FF9A7F4B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088" y="140478"/>
            <a:ext cx="9144000" cy="431482"/>
          </a:xfrm>
        </p:spPr>
        <p:txBody>
          <a:bodyPr>
            <a:normAutofit/>
          </a:bodyPr>
          <a:lstStyle/>
          <a:p>
            <a:r>
              <a:rPr lang="en-US" b="1" dirty="0"/>
              <a:t>Dataset preparation (1/3) - Base dataset</a:t>
            </a:r>
            <a:endParaRPr lang="it-IT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3B0917-FA11-692E-D6F0-C6F0280689DA}"/>
              </a:ext>
            </a:extLst>
          </p:cNvPr>
          <p:cNvSpPr txBox="1"/>
          <p:nvPr/>
        </p:nvSpPr>
        <p:spPr>
          <a:xfrm>
            <a:off x="756920" y="808212"/>
            <a:ext cx="106781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D1D1D"/>
                </a:solidFill>
                <a:latin typeface="Segoe UI" panose="020B0502040204020203" pitchFamily="34" charset="0"/>
              </a:rPr>
              <a:t>The base </a:t>
            </a:r>
            <a:r>
              <a:rPr lang="en-US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syntetic</a:t>
            </a:r>
            <a:r>
              <a:rPr lang="en-US" sz="1800" dirty="0">
                <a:solidFill>
                  <a:srgbClr val="1D1D1D"/>
                </a:solidFill>
                <a:latin typeface="Segoe UI" panose="020B0502040204020203" pitchFamily="34" charset="0"/>
              </a:rPr>
              <a:t> dataset is “</a:t>
            </a:r>
            <a:r>
              <a:rPr lang="en-US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SwimXYZ</a:t>
            </a:r>
            <a:r>
              <a:rPr lang="en-US" sz="1800" dirty="0">
                <a:solidFill>
                  <a:srgbClr val="1D1D1D"/>
                </a:solidFill>
                <a:latin typeface="Segoe UI" panose="020B0502040204020203" pitchFamily="34" charset="0"/>
              </a:rPr>
              <a:t>” / “Freestyle” / “</a:t>
            </a:r>
            <a:r>
              <a:rPr lang="en-US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Side_above</a:t>
            </a:r>
            <a:r>
              <a:rPr lang="en-US" dirty="0" err="1">
                <a:solidFill>
                  <a:srgbClr val="1D1D1D"/>
                </a:solidFill>
                <a:latin typeface="Segoe UI" panose="020B0502040204020203" pitchFamily="34" charset="0"/>
              </a:rPr>
              <a:t>_</a:t>
            </a:r>
            <a:r>
              <a:rPr lang="en-US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water</a:t>
            </a:r>
            <a:r>
              <a:rPr lang="en-US" dirty="0">
                <a:solidFill>
                  <a:srgbClr val="1D1D1D"/>
                </a:solidFill>
                <a:latin typeface="Segoe UI" panose="020B0502040204020203" pitchFamily="34" charset="0"/>
              </a:rPr>
              <a:t>”, produced with Blender 3D. </a:t>
            </a:r>
            <a:endParaRPr lang="it-IT" sz="1800" b="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it-IT" sz="1800" b="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This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dataset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made by 518’400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elements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(</a:t>
            </a:r>
            <a:r>
              <a:rPr lang="en-US" dirty="0"/>
              <a:t>1728 videos, with 300 frames each, </a:t>
            </a:r>
            <a:r>
              <a:rPr lang="en-US"/>
              <a:t>3D KP representation</a:t>
            </a:r>
            <a:r>
              <a:rPr lang="en-US" dirty="0"/>
              <a:t>), with movements, shape, color and light variations applied to the swimmer, the water and the swimming pool. </a:t>
            </a:r>
          </a:p>
          <a:p>
            <a:r>
              <a:rPr lang="en-US" dirty="0"/>
              <a:t>The variation schema chosen for each video is modeled to produce fluid and natural movements.  </a:t>
            </a:r>
          </a:p>
          <a:p>
            <a:endParaRPr lang="en-US" dirty="0"/>
          </a:p>
          <a:p>
            <a:r>
              <a:rPr lang="en-US" dirty="0"/>
              <a:t>Each element can refer to three different types of image:</a:t>
            </a:r>
          </a:p>
          <a:p>
            <a:r>
              <a:rPr lang="en-US" dirty="0"/>
              <a:t>a) the entire shape of a swimmer</a:t>
            </a:r>
          </a:p>
          <a:p>
            <a:r>
              <a:rPr lang="en-US" dirty="0"/>
              <a:t>b) a part of a swimmer entering or exiting from the frame</a:t>
            </a:r>
          </a:p>
          <a:p>
            <a:r>
              <a:rPr lang="en-US" dirty="0"/>
              <a:t>c) the swimming pool without any swimmer.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Type a)				         Type b)			           Type c)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D9D8038F-372A-96D1-6CFA-F6C760A2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65485" y="6356350"/>
            <a:ext cx="766103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831EB6-3382-DF82-012A-2BE8B7E9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3</a:t>
            </a:fld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03F24BC-02C3-547A-FE16-C4239350A9FE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7764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97E168-8EF4-26E7-1985-FF9A7F4B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088" y="140478"/>
            <a:ext cx="9144000" cy="431482"/>
          </a:xfrm>
        </p:spPr>
        <p:txBody>
          <a:bodyPr>
            <a:normAutofit/>
          </a:bodyPr>
          <a:lstStyle/>
          <a:p>
            <a:r>
              <a:rPr lang="en-US" b="1" dirty="0"/>
              <a:t>Dataset preparation (2/3) - Derived datasets</a:t>
            </a:r>
          </a:p>
          <a:p>
            <a:endParaRPr lang="it-IT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3B0917-FA11-692E-D6F0-C6F0280689DA}"/>
              </a:ext>
            </a:extLst>
          </p:cNvPr>
          <p:cNvSpPr txBox="1"/>
          <p:nvPr/>
        </p:nvSpPr>
        <p:spPr>
          <a:xfrm>
            <a:off x="756920" y="1120676"/>
            <a:ext cx="106781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Derived datasets are produced from the base:</a:t>
            </a:r>
          </a:p>
          <a:p>
            <a:pPr marL="285750" indent="-285750">
              <a:buFontTx/>
              <a:buChar char="-"/>
            </a:pPr>
            <a:r>
              <a:rPr lang="en-US" i="1" dirty="0" err="1"/>
              <a:t>SAW_frames_EntireSwimmer</a:t>
            </a:r>
            <a:r>
              <a:rPr lang="en-US" i="1" dirty="0"/>
              <a:t> , which </a:t>
            </a:r>
            <a:r>
              <a:rPr lang="en-US" dirty="0"/>
              <a:t>contains only a) type elements</a:t>
            </a:r>
          </a:p>
          <a:p>
            <a:pPr marL="285750" indent="-285750">
              <a:buFontTx/>
              <a:buChar char="-"/>
            </a:pPr>
            <a:r>
              <a:rPr lang="en-US" i="1" dirty="0" err="1"/>
              <a:t>SAW_frames</a:t>
            </a:r>
            <a:r>
              <a:rPr lang="en-US" dirty="0"/>
              <a:t>, which contains a) + b) + c) type elements.</a:t>
            </a:r>
          </a:p>
          <a:p>
            <a:endParaRPr lang="en-US" dirty="0"/>
          </a:p>
          <a:p>
            <a:r>
              <a:rPr lang="en-US" dirty="0"/>
              <a:t>This allows to evaluate the effects on the models training of datasets with a greater variety of frame types, or a more specialized one.</a:t>
            </a:r>
          </a:p>
          <a:p>
            <a:endParaRPr lang="en-US" dirty="0"/>
          </a:p>
          <a:p>
            <a:r>
              <a:rPr lang="en-US" dirty="0"/>
              <a:t>The two derived datasets contain elements: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composed by couples (image, label) 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KPs in COCO 2D format and cam </a:t>
            </a:r>
            <a:r>
              <a:rPr lang="en-US" dirty="0" err="1"/>
              <a:t>pointview</a:t>
            </a:r>
            <a:r>
              <a:rPr lang="en-US" dirty="0"/>
              <a:t> reference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extracted with a complete random cherry-picking from the entire Base dataset</a:t>
            </a:r>
            <a:br>
              <a:rPr lang="en-US" dirty="0"/>
            </a:br>
            <a:r>
              <a:rPr lang="en-US" dirty="0"/>
              <a:t>N.B. 	A previous analysis was conducted by extracting frames from an initial video random selection. </a:t>
            </a:r>
            <a:br>
              <a:rPr lang="en-US" dirty="0"/>
            </a:br>
            <a:r>
              <a:rPr lang="en-US" dirty="0"/>
              <a:t>	The suspicion of overfitting led to introduce a greater variability in the selection.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The datasets are: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filtered and corrected by the data cleaning process (~15’000 elements)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splitted</a:t>
            </a:r>
            <a:r>
              <a:rPr lang="en-US" dirty="0"/>
              <a:t> in Train/Val/Test sub-datasets with 70/20/10 ratio.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5A9D7056-6645-432C-A31D-E3F89680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2140" y="6356350"/>
            <a:ext cx="612772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2E2475-96B6-943F-ED40-E24E7582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4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E842445-65B0-CC11-4FDB-77232E3E85D4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1, 2, 5, 6</a:t>
            </a:r>
          </a:p>
        </p:txBody>
      </p:sp>
    </p:spTree>
    <p:extLst>
      <p:ext uri="{BB962C8B-B14F-4D97-AF65-F5344CB8AC3E}">
        <p14:creationId xmlns:p14="http://schemas.microsoft.com/office/powerpoint/2010/main" val="190675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97E168-8EF4-26E7-1985-FF9A7F4B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088" y="140478"/>
            <a:ext cx="9144000" cy="431482"/>
          </a:xfrm>
        </p:spPr>
        <p:txBody>
          <a:bodyPr>
            <a:normAutofit/>
          </a:bodyPr>
          <a:lstStyle/>
          <a:p>
            <a:r>
              <a:rPr lang="en-US" b="1" dirty="0"/>
              <a:t>Dataset preparation (3/3) - Dataset cleaning</a:t>
            </a:r>
            <a:endParaRPr lang="it-IT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3B0917-FA11-692E-D6F0-C6F0280689DA}"/>
              </a:ext>
            </a:extLst>
          </p:cNvPr>
          <p:cNvSpPr txBox="1"/>
          <p:nvPr/>
        </p:nvSpPr>
        <p:spPr>
          <a:xfrm>
            <a:off x="756920" y="1028343"/>
            <a:ext cx="106781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following issues are detected and addressed to produce the Derived datasets elements: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Visibility label V missed</a:t>
            </a:r>
            <a:r>
              <a:rPr lang="en-US" dirty="0"/>
              <a:t>: the </a:t>
            </a:r>
            <a:r>
              <a:rPr lang="en-US" dirty="0" err="1"/>
              <a:t>keypoint</a:t>
            </a:r>
            <a:r>
              <a:rPr lang="en-US" dirty="0"/>
              <a:t> coordinates are 3D and don't set the visibility label used by 2D HPE models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Blender coordinate representation</a:t>
            </a:r>
            <a:r>
              <a:rPr lang="en-US" dirty="0"/>
              <a:t>: the </a:t>
            </a:r>
            <a:r>
              <a:rPr lang="en-US" dirty="0" err="1"/>
              <a:t>keypoints</a:t>
            </a:r>
            <a:r>
              <a:rPr lang="en-US" dirty="0"/>
              <a:t> have a Blender coordinates representation and not a COCO standard notation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Cutting bounding boxes</a:t>
            </a:r>
            <a:r>
              <a:rPr lang="en-US" dirty="0"/>
              <a:t>: some bounding boxes are too strict and don't fit the swimmer shape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Swapped face </a:t>
            </a:r>
            <a:r>
              <a:rPr lang="en-US" i="1" dirty="0" err="1"/>
              <a:t>keypoints</a:t>
            </a:r>
            <a:r>
              <a:rPr lang="en-US" dirty="0"/>
              <a:t>: nose and ear </a:t>
            </a:r>
            <a:r>
              <a:rPr lang="en-US" dirty="0" err="1"/>
              <a:t>keypoints</a:t>
            </a:r>
            <a:r>
              <a:rPr lang="en-US" dirty="0"/>
              <a:t> are Left-to-Right swapped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Misplaced </a:t>
            </a:r>
            <a:r>
              <a:rPr lang="en-US" i="1" dirty="0" err="1"/>
              <a:t>keypoints</a:t>
            </a:r>
            <a:r>
              <a:rPr lang="en-US" dirty="0"/>
              <a:t>: some frame have KPs that seem to be inaccurate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 err="1"/>
              <a:t>Keypoints</a:t>
            </a:r>
            <a:r>
              <a:rPr lang="en-US" i="1" dirty="0"/>
              <a:t> and </a:t>
            </a:r>
            <a:r>
              <a:rPr lang="en-US" i="1" dirty="0" err="1"/>
              <a:t>bbox</a:t>
            </a:r>
            <a:r>
              <a:rPr lang="en-US" i="1" dirty="0"/>
              <a:t> displacement</a:t>
            </a:r>
            <a:r>
              <a:rPr lang="en-US" dirty="0"/>
              <a:t>: some frame have translated or translated label or </a:t>
            </a:r>
            <a:r>
              <a:rPr lang="en-US" dirty="0" err="1"/>
              <a:t>bbox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i="1" dirty="0"/>
              <a:t>Truncated label series</a:t>
            </a:r>
            <a:r>
              <a:rPr lang="en-US" dirty="0"/>
              <a:t>: some video have a different number of frames than the label sequence (the affected elements are only the last in the tail of the video)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24654C1F-0023-5ABF-565F-D04E94B0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8385" y="6356350"/>
            <a:ext cx="697523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12C4B6-B61D-95EA-CF31-A259E15B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5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9A996E7-0390-1A65-636E-BDEB9217EB16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63524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97E168-8EF4-26E7-1985-FF9A7F4B3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976" y="140478"/>
            <a:ext cx="8102224" cy="431482"/>
          </a:xfrm>
        </p:spPr>
        <p:txBody>
          <a:bodyPr>
            <a:normAutofit/>
          </a:bodyPr>
          <a:lstStyle/>
          <a:p>
            <a:r>
              <a:rPr lang="en-US" b="1" dirty="0"/>
              <a:t>Training process  (1/2) – Hyperparameters grid choice</a:t>
            </a:r>
            <a:endParaRPr lang="it-IT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3B0917-FA11-692E-D6F0-C6F0280689DA}"/>
              </a:ext>
            </a:extLst>
          </p:cNvPr>
          <p:cNvSpPr txBox="1"/>
          <p:nvPr/>
        </p:nvSpPr>
        <p:spPr>
          <a:xfrm>
            <a:off x="641750" y="983277"/>
            <a:ext cx="1121072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Each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model’s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hyperparameter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is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set to the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reference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value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,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except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for the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two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most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relevant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which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are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choosen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with a 2x2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evaluation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sz="1800" dirty="0" err="1">
                <a:solidFill>
                  <a:srgbClr val="1D1D1D"/>
                </a:solidFill>
                <a:latin typeface="Segoe UI" panose="020B0502040204020203" pitchFamily="34" charset="0"/>
              </a:rPr>
              <a:t>grid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Yolo26x-Pose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and Yolo26x-Detection: Learning rate {0.00067, 0.001} ,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ImgSize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{640, 768}</a:t>
            </a:r>
          </a:p>
          <a:p>
            <a:pPr marL="285750" indent="-285750">
              <a:buFontTx/>
              <a:buChar char="-"/>
            </a:pP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++: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Learning rate {0.00067, 0.001} </a:t>
            </a:r>
            <a:r>
              <a:rPr lang="it-IT" sz="1800" dirty="0">
                <a:solidFill>
                  <a:srgbClr val="1D1D1D"/>
                </a:solidFill>
                <a:latin typeface="Segoe UI" panose="020B0502040204020203" pitchFamily="34" charset="0"/>
              </a:rPr>
              <a:t>, Crop-Size {348x128, 512x128}</a:t>
            </a:r>
          </a:p>
          <a:p>
            <a:endParaRPr lang="it-IT" sz="1800" b="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The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grid-comparison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made on a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dedicated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dataset,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composed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by 100 sample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videos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(~5.8% of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total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),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randomly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extracted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by the base dataset.</a:t>
            </a:r>
          </a:p>
          <a:p>
            <a:endParaRPr lang="it-IT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This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table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shows the best HYP for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each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model, ranking the mAP50-95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metric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on the Val dataset </a:t>
            </a:r>
            <a:b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</a:b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after a 5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epochs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training:</a:t>
            </a:r>
          </a:p>
          <a:p>
            <a:endParaRPr lang="en-US" dirty="0"/>
          </a:p>
          <a:p>
            <a:endParaRPr lang="it-IT" b="1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it-IT" b="1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it-IT" b="1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it-IT" b="1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it-IT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N.B.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++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the 2nd stage of a pipeline, after a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detecting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/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cropping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Yolo26x-Detection model, so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this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model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has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to be fine-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tuned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before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any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other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 </a:t>
            </a:r>
            <a:r>
              <a:rPr lang="it-IT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it-IT" dirty="0">
                <a:solidFill>
                  <a:srgbClr val="1D1D1D"/>
                </a:solidFill>
                <a:latin typeface="Segoe UI" panose="020B0502040204020203" pitchFamily="34" charset="0"/>
              </a:rPr>
              <a:t>++ training.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3041BD85-BC3D-2FF0-5C53-BD94E023B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513622"/>
              </p:ext>
            </p:extLst>
          </p:nvPr>
        </p:nvGraphicFramePr>
        <p:xfrm>
          <a:off x="3053785" y="3964643"/>
          <a:ext cx="638665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884">
                  <a:extLst>
                    <a:ext uri="{9D8B030D-6E8A-4147-A177-3AD203B41FA5}">
                      <a16:colId xmlns:a16="http://schemas.microsoft.com/office/drawing/2014/main" val="2069870650"/>
                    </a:ext>
                  </a:extLst>
                </a:gridCol>
                <a:gridCol w="2128884">
                  <a:extLst>
                    <a:ext uri="{9D8B030D-6E8A-4147-A177-3AD203B41FA5}">
                      <a16:colId xmlns:a16="http://schemas.microsoft.com/office/drawing/2014/main" val="2484117167"/>
                    </a:ext>
                  </a:extLst>
                </a:gridCol>
                <a:gridCol w="2128884">
                  <a:extLst>
                    <a:ext uri="{9D8B030D-6E8A-4147-A177-3AD203B41FA5}">
                      <a16:colId xmlns:a16="http://schemas.microsoft.com/office/drawing/2014/main" val="228079278"/>
                    </a:ext>
                  </a:extLst>
                </a:gridCol>
              </a:tblGrid>
              <a:tr h="283071"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HYP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chemeClr val="tx1"/>
                          </a:solidFill>
                        </a:rPr>
                        <a:t>HYP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84716"/>
                  </a:ext>
                </a:extLst>
              </a:tr>
              <a:tr h="283071"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Yolo26x-Detection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Learning rate = 0.00067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 err="1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ImgSize</a:t>
                      </a:r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 = 768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07418"/>
                  </a:ext>
                </a:extLst>
              </a:tr>
              <a:tr h="283071"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Yolo26x-Pose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Learning rate = 0.001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 err="1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ImgSize</a:t>
                      </a:r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 = 768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028490"/>
                  </a:ext>
                </a:extLst>
              </a:tr>
              <a:tr h="283071">
                <a:tc>
                  <a:txBody>
                    <a:bodyPr/>
                    <a:lstStyle/>
                    <a:p>
                      <a:r>
                        <a:rPr lang="it-IT" sz="1400" dirty="0" err="1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VitPose</a:t>
                      </a:r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++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Learning rate = 0.001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solidFill>
                            <a:srgbClr val="1D1D1D"/>
                          </a:solidFill>
                          <a:latin typeface="Segoe UI" panose="020B0502040204020203" pitchFamily="34" charset="0"/>
                        </a:rPr>
                        <a:t>Crop-Size 348x128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25260"/>
                  </a:ext>
                </a:extLst>
              </a:tr>
            </a:tbl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90E9CB3-4AF9-7F4B-CFC9-972A9583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7808" y="6356350"/>
            <a:ext cx="5656384" cy="365125"/>
          </a:xfrm>
        </p:spPr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87FB04-D6A0-A140-D2BE-760A47EA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6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DC86E94-8385-9BD7-A2E4-CAD32BDAF6A3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87361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3B0917-FA11-692E-D6F0-C6F0280689DA}"/>
              </a:ext>
            </a:extLst>
          </p:cNvPr>
          <p:cNvSpPr txBox="1"/>
          <p:nvPr/>
        </p:nvSpPr>
        <p:spPr>
          <a:xfrm>
            <a:off x="490638" y="1145966"/>
            <a:ext cx="112107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train processes for Yolo26x-Pose and </a:t>
            </a:r>
            <a:r>
              <a:rPr lang="en-US" dirty="0" err="1"/>
              <a:t>VitPose</a:t>
            </a:r>
            <a:r>
              <a:rPr lang="en-US" dirty="0"/>
              <a:t>++ are made: </a:t>
            </a:r>
          </a:p>
          <a:p>
            <a:pPr marL="285750" indent="-285750">
              <a:buFontTx/>
              <a:buChar char="-"/>
            </a:pPr>
            <a:r>
              <a:rPr lang="en-US" dirty="0"/>
              <a:t>using the pre-trained reference checkpoints and the best HYPs </a:t>
            </a:r>
          </a:p>
          <a:p>
            <a:pPr marL="285750" indent="-285750">
              <a:buFontTx/>
              <a:buChar char="-"/>
            </a:pPr>
            <a:r>
              <a:rPr lang="en-US" dirty="0"/>
              <a:t>evaluating mAP50-95 with an early stop  mechanism (Patience = 3, </a:t>
            </a:r>
            <a:r>
              <a:rPr lang="en-US" dirty="0" err="1"/>
              <a:t>Min_Delta</a:t>
            </a:r>
            <a:r>
              <a:rPr lang="en-US" dirty="0"/>
              <a:t>=0.007)</a:t>
            </a:r>
          </a:p>
          <a:p>
            <a:pPr marL="285750" indent="-285750">
              <a:buFontTx/>
              <a:buChar char="-"/>
            </a:pPr>
            <a:r>
              <a:rPr lang="it-IT" dirty="0"/>
              <a:t>with 1498 </a:t>
            </a:r>
            <a:r>
              <a:rPr lang="it-IT" dirty="0" err="1"/>
              <a:t>elements</a:t>
            </a:r>
            <a:r>
              <a:rPr lang="it-IT" dirty="0"/>
              <a:t> of </a:t>
            </a:r>
            <a:r>
              <a:rPr lang="it-IT" dirty="0" err="1"/>
              <a:t>SAW_frames_EntireSwim</a:t>
            </a:r>
            <a:r>
              <a:rPr lang="it-IT" dirty="0"/>
              <a:t>, and with 1359 </a:t>
            </a:r>
            <a:r>
              <a:rPr lang="it-IT" dirty="0" err="1"/>
              <a:t>elements</a:t>
            </a:r>
            <a:r>
              <a:rPr lang="it-IT" dirty="0"/>
              <a:t> of </a:t>
            </a:r>
            <a:r>
              <a:rPr lang="it-IT" dirty="0" err="1"/>
              <a:t>SAW_frames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en-US" dirty="0"/>
              <a:t>using a splitting ratio 70/20/10 to produce Train/Val/Test sub-datasets from the derived datasets</a:t>
            </a:r>
          </a:p>
          <a:p>
            <a:endParaRPr lang="en-US" dirty="0"/>
          </a:p>
          <a:p>
            <a:r>
              <a:rPr lang="en-US" dirty="0"/>
              <a:t>N.B. with </a:t>
            </a:r>
            <a:r>
              <a:rPr lang="en-US" dirty="0" err="1"/>
              <a:t>VitPose</a:t>
            </a:r>
            <a:r>
              <a:rPr lang="en-US" dirty="0"/>
              <a:t>++ pipeline</a:t>
            </a:r>
          </a:p>
          <a:p>
            <a:r>
              <a:rPr lang="en-US" dirty="0"/>
              <a:t>- the training process uses the GT </a:t>
            </a:r>
            <a:r>
              <a:rPr lang="en-US" dirty="0" err="1"/>
              <a:t>bboxes</a:t>
            </a:r>
            <a:r>
              <a:rPr lang="en-US" dirty="0"/>
              <a:t>, to detect and backpropagate only its own loss</a:t>
            </a:r>
          </a:p>
          <a:p>
            <a:r>
              <a:rPr lang="en-US" dirty="0"/>
              <a:t>- the test process is made with </a:t>
            </a:r>
            <a:r>
              <a:rPr lang="en-US" dirty="0" err="1"/>
              <a:t>bboxes</a:t>
            </a:r>
            <a:r>
              <a:rPr lang="en-US" dirty="0"/>
              <a:t> predicted by the fine tuned Yolo26x-Detection model.</a:t>
            </a:r>
          </a:p>
          <a:p>
            <a:endParaRPr lang="en-US" dirty="0"/>
          </a:p>
          <a:p>
            <a:r>
              <a:rPr lang="en-US" dirty="0"/>
              <a:t>Multiple detections are solved using the confidence measure of </a:t>
            </a:r>
            <a:r>
              <a:rPr lang="en-US" dirty="0" err="1"/>
              <a:t>bbox</a:t>
            </a:r>
            <a:r>
              <a:rPr lang="en-US" dirty="0"/>
              <a:t> detection, addressing the one with the maximum value.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7DDD1C03-940F-CC58-4757-D0A5146BD79A}"/>
              </a:ext>
            </a:extLst>
          </p:cNvPr>
          <p:cNvSpPr txBox="1">
            <a:spLocks/>
          </p:cNvSpPr>
          <p:nvPr/>
        </p:nvSpPr>
        <p:spPr>
          <a:xfrm>
            <a:off x="3332480" y="140478"/>
            <a:ext cx="5959216" cy="4314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Training process  (2/2) – Training the models</a:t>
            </a:r>
            <a:endParaRPr lang="it-IT" b="1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791A22BB-A6C4-86ED-AF83-551BAEEB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00E7BB9-5F14-7C26-B4A7-ACAD0DAC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7</a:t>
            </a:fld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DDB1B8A-4C40-9470-BCBC-76759E8F704B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2, 3, 4, 6</a:t>
            </a:r>
          </a:p>
        </p:txBody>
      </p:sp>
    </p:spTree>
    <p:extLst>
      <p:ext uri="{BB962C8B-B14F-4D97-AF65-F5344CB8AC3E}">
        <p14:creationId xmlns:p14="http://schemas.microsoft.com/office/powerpoint/2010/main" val="71057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1332BDD-4F2F-B19B-21AC-31D9B565B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23514"/>
              </p:ext>
            </p:extLst>
          </p:nvPr>
        </p:nvGraphicFramePr>
        <p:xfrm>
          <a:off x="528320" y="1544002"/>
          <a:ext cx="11135360" cy="2479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4984">
                  <a:extLst>
                    <a:ext uri="{9D8B030D-6E8A-4147-A177-3AD203B41FA5}">
                      <a16:colId xmlns:a16="http://schemas.microsoft.com/office/drawing/2014/main" val="3508889886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1739428996"/>
                    </a:ext>
                  </a:extLst>
                </a:gridCol>
                <a:gridCol w="1075500">
                  <a:extLst>
                    <a:ext uri="{9D8B030D-6E8A-4147-A177-3AD203B41FA5}">
                      <a16:colId xmlns:a16="http://schemas.microsoft.com/office/drawing/2014/main" val="1311986739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3965485746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2796178890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1268361941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3929164849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3141798086"/>
                    </a:ext>
                  </a:extLst>
                </a:gridCol>
                <a:gridCol w="1049268">
                  <a:extLst>
                    <a:ext uri="{9D8B030D-6E8A-4147-A177-3AD203B41FA5}">
                      <a16:colId xmlns:a16="http://schemas.microsoft.com/office/drawing/2014/main" val="741705031"/>
                    </a:ext>
                  </a:extLst>
                </a:gridCol>
              </a:tblGrid>
              <a:tr h="4837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 err="1">
                          <a:effectLst/>
                        </a:rPr>
                        <a:t>SAW_frames_EntireSwim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SAW_frames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96352"/>
                  </a:ext>
                </a:extLst>
              </a:tr>
              <a:tr h="503935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Val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Test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Val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Test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40461"/>
                  </a:ext>
                </a:extLst>
              </a:tr>
              <a:tr h="503935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AR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AP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AR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AP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AR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AP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AR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AP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672289"/>
                  </a:ext>
                </a:extLst>
              </a:tr>
              <a:tr h="483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Yolo26x-Pose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0.99043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0.93299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0.99599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0.93190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0.91649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0.85437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C0C0C0"/>
                          </a:highlight>
                        </a:rPr>
                        <a:t>0.93156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0.87474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894928"/>
                  </a:ext>
                </a:extLst>
              </a:tr>
              <a:tr h="5039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b="1" u="none" strike="noStrike" dirty="0">
                          <a:effectLst/>
                        </a:rPr>
                        <a:t>Yolo26x-Det -&gt; </a:t>
                      </a:r>
                      <a:r>
                        <a:rPr lang="it-IT" sz="1800" b="1" u="none" strike="noStrike" dirty="0" err="1">
                          <a:effectLst/>
                        </a:rPr>
                        <a:t>VitPose</a:t>
                      </a:r>
                      <a:r>
                        <a:rPr lang="it-IT" sz="1800" b="1" u="none" strike="noStrike" dirty="0">
                          <a:effectLst/>
                        </a:rPr>
                        <a:t>++</a:t>
                      </a:r>
                      <a:endParaRPr lang="it-I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0.98442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0.97703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0.98531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0.97822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0.9312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buNone/>
                      </a:pPr>
                      <a:r>
                        <a:rPr lang="it-IT" sz="1800" u="none" strike="noStrike" dirty="0">
                          <a:effectLst/>
                        </a:rPr>
                        <a:t>0.923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C0C0C0"/>
                          </a:highlight>
                        </a:rPr>
                        <a:t>0.93804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8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0.93288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238801"/>
                  </a:ext>
                </a:extLst>
              </a:tr>
            </a:tbl>
          </a:graphicData>
        </a:graphic>
      </p:graphicFrame>
      <p:sp>
        <p:nvSpPr>
          <p:cNvPr id="6" name="Sottotitolo 2">
            <a:extLst>
              <a:ext uri="{FF2B5EF4-FFF2-40B4-BE49-F238E27FC236}">
                <a16:creationId xmlns:a16="http://schemas.microsoft.com/office/drawing/2014/main" id="{CA71D883-FC91-EFE1-8F10-E71A97D2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5296" y="140478"/>
            <a:ext cx="755358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(1/5) - Overall HPE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2C8FC5-780B-A043-B89C-2370DDFE21D7}"/>
              </a:ext>
            </a:extLst>
          </p:cNvPr>
          <p:cNvSpPr txBox="1"/>
          <p:nvPr/>
        </p:nvSpPr>
        <p:spPr>
          <a:xfrm>
            <a:off x="426720" y="4390668"/>
            <a:ext cx="11356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YOLO26x-Pose </a:t>
            </a:r>
            <a:r>
              <a:rPr lang="it-IT" dirty="0" err="1"/>
              <a:t>gets</a:t>
            </a:r>
            <a:r>
              <a:rPr lang="it-IT" dirty="0"/>
              <a:t> good recall AR for </a:t>
            </a:r>
            <a:r>
              <a:rPr lang="it-IT" dirty="0" err="1"/>
              <a:t>SAW_frames_EntireSwim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more </a:t>
            </a:r>
            <a:r>
              <a:rPr lang="it-IT" dirty="0" err="1"/>
              <a:t>specialized</a:t>
            </a:r>
            <a:r>
              <a:rPr lang="it-IT" dirty="0"/>
              <a:t> dataset. 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 err="1"/>
              <a:t>VitPose</a:t>
            </a:r>
            <a:r>
              <a:rPr lang="it-IT" dirty="0"/>
              <a:t>++ </a:t>
            </a:r>
            <a:r>
              <a:rPr lang="it-IT" dirty="0" err="1"/>
              <a:t>has</a:t>
            </a:r>
            <a:r>
              <a:rPr lang="it-IT" dirty="0"/>
              <a:t> a clear and strong </a:t>
            </a:r>
            <a:r>
              <a:rPr lang="it-IT" dirty="0" err="1"/>
              <a:t>majority</a:t>
            </a:r>
            <a:r>
              <a:rPr lang="it-IT" dirty="0"/>
              <a:t> on AP for </a:t>
            </a:r>
            <a:r>
              <a:rPr lang="it-IT" dirty="0" err="1"/>
              <a:t>both</a:t>
            </a:r>
            <a:r>
              <a:rPr lang="it-IT" dirty="0"/>
              <a:t> the datasets (</a:t>
            </a:r>
            <a:r>
              <a:rPr lang="it-IT" dirty="0" err="1"/>
              <a:t>even</a:t>
            </a:r>
            <a:r>
              <a:rPr lang="it-IT" dirty="0"/>
              <a:t> with the dataset </a:t>
            </a:r>
            <a:r>
              <a:rPr lang="it-IT" dirty="0" err="1"/>
              <a:t>SAW_frames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constitutes</a:t>
            </a:r>
            <a:r>
              <a:rPr lang="it-IT" dirty="0"/>
              <a:t> the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domain).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1A65D406-3EFD-8FFD-CF1C-12714C27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11769" y="6356350"/>
            <a:ext cx="5568462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42CCB83-9127-5476-B45A-DCA83F59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8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3D13004-C3F4-052A-705B-36ADDF616389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1, 4, 6</a:t>
            </a:r>
          </a:p>
        </p:txBody>
      </p:sp>
    </p:spTree>
    <p:extLst>
      <p:ext uri="{BB962C8B-B14F-4D97-AF65-F5344CB8AC3E}">
        <p14:creationId xmlns:p14="http://schemas.microsoft.com/office/powerpoint/2010/main" val="36907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ttotitolo 2">
            <a:extLst>
              <a:ext uri="{FF2B5EF4-FFF2-40B4-BE49-F238E27FC236}">
                <a16:creationId xmlns:a16="http://schemas.microsoft.com/office/drawing/2014/main" id="{CA71D883-FC91-EFE1-8F10-E71A97D2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376" y="140478"/>
            <a:ext cx="1033742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(2/5) - Overall geometric accuracy</a:t>
            </a:r>
            <a:endParaRPr lang="it-IT" b="1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C68B26D2-AD0F-272A-5D3C-37DC7C5BB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824165"/>
              </p:ext>
            </p:extLst>
          </p:nvPr>
        </p:nvGraphicFramePr>
        <p:xfrm>
          <a:off x="1379408" y="1164661"/>
          <a:ext cx="9410512" cy="1851090"/>
        </p:xfrm>
        <a:graphic>
          <a:graphicData uri="http://schemas.openxmlformats.org/drawingml/2006/table">
            <a:tbl>
              <a:tblPr/>
              <a:tblGrid>
                <a:gridCol w="2352628">
                  <a:extLst>
                    <a:ext uri="{9D8B030D-6E8A-4147-A177-3AD203B41FA5}">
                      <a16:colId xmlns:a16="http://schemas.microsoft.com/office/drawing/2014/main" val="457798865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238016455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1900107243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1331325184"/>
                    </a:ext>
                  </a:extLst>
                </a:gridCol>
              </a:tblGrid>
              <a:tr h="26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 err="1"/>
                        <a:t>Metric</a:t>
                      </a:r>
                      <a:endParaRPr lang="it-IT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YOLO26x-Pose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 err="1"/>
                        <a:t>VitPose</a:t>
                      </a:r>
                      <a:r>
                        <a:rPr lang="it-IT" sz="1400" b="1" dirty="0"/>
                        <a:t>++ (</a:t>
                      </a:r>
                      <a:r>
                        <a:rPr lang="it-IT" sz="1400" b="1" dirty="0" err="1"/>
                        <a:t>thrshld</a:t>
                      </a:r>
                      <a:r>
                        <a:rPr lang="it-IT" sz="1400" b="1" dirty="0"/>
                        <a:t> = 0.3)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954163"/>
                  </a:ext>
                </a:extLst>
              </a:tr>
              <a:tr h="26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Mean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4.971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4.427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074713"/>
                  </a:ext>
                </a:extLst>
              </a:tr>
              <a:tr h="26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Median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3.897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3.620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021083"/>
                  </a:ext>
                </a:extLst>
              </a:tr>
              <a:tr h="26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P90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9.872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8.278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002042"/>
                  </a:ext>
                </a:extLst>
              </a:tr>
              <a:tr h="26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PCK@5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99.462%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99.749%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47596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PCK@10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99.988%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99.984%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8036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865AEC63-E8EC-1E78-E63B-2E6B82DDE4AE}"/>
              </a:ext>
            </a:extLst>
          </p:cNvPr>
          <p:cNvSpPr txBox="1"/>
          <p:nvPr/>
        </p:nvSpPr>
        <p:spPr>
          <a:xfrm>
            <a:off x="3264088" y="724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b="1" dirty="0"/>
              <a:t>Dataset </a:t>
            </a:r>
            <a:r>
              <a:rPr lang="it-IT" b="1" dirty="0" err="1"/>
              <a:t>SAW_frame_EntireSwim</a:t>
            </a:r>
            <a:endParaRPr lang="it-IT" b="1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EDC79D7-084A-2C33-D80B-76B9010D8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45928"/>
              </p:ext>
            </p:extLst>
          </p:nvPr>
        </p:nvGraphicFramePr>
        <p:xfrm>
          <a:off x="1379408" y="3645441"/>
          <a:ext cx="9410512" cy="1828800"/>
        </p:xfrm>
        <a:graphic>
          <a:graphicData uri="http://schemas.openxmlformats.org/drawingml/2006/table">
            <a:tbl>
              <a:tblPr/>
              <a:tblGrid>
                <a:gridCol w="2352628">
                  <a:extLst>
                    <a:ext uri="{9D8B030D-6E8A-4147-A177-3AD203B41FA5}">
                      <a16:colId xmlns:a16="http://schemas.microsoft.com/office/drawing/2014/main" val="751973048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3059038120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3763064040"/>
                    </a:ext>
                  </a:extLst>
                </a:gridCol>
                <a:gridCol w="2352628">
                  <a:extLst>
                    <a:ext uri="{9D8B030D-6E8A-4147-A177-3AD203B41FA5}">
                      <a16:colId xmlns:a16="http://schemas.microsoft.com/office/drawing/2014/main" val="155441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 err="1"/>
                        <a:t>Metric</a:t>
                      </a:r>
                      <a:endParaRPr lang="it-IT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YOLO26x-Pose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 err="1"/>
                        <a:t>VitPose</a:t>
                      </a:r>
                      <a:r>
                        <a:rPr lang="it-IT" sz="1400" b="1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92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Mean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4.730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3.736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263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Median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3.535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2.801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07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P90 Error (px)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9.513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7.094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3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PCK@5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96.504%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98.322%</a:t>
                      </a:r>
                      <a:endParaRPr lang="it-IT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95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PCK@10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98.147%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99.206%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852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973792-6486-5360-C349-64838DC0C3BA}"/>
              </a:ext>
            </a:extLst>
          </p:cNvPr>
          <p:cNvSpPr txBox="1"/>
          <p:nvPr/>
        </p:nvSpPr>
        <p:spPr>
          <a:xfrm>
            <a:off x="3264088" y="32049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b="1" dirty="0"/>
              <a:t>Dataset </a:t>
            </a:r>
            <a:r>
              <a:rPr lang="it-IT" b="1" dirty="0" err="1"/>
              <a:t>SAW_frame</a:t>
            </a:r>
            <a:endParaRPr lang="it-IT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CEB8F40-4521-C910-5DA1-F1DAA40A1ED3}"/>
              </a:ext>
            </a:extLst>
          </p:cNvPr>
          <p:cNvSpPr txBox="1"/>
          <p:nvPr/>
        </p:nvSpPr>
        <p:spPr>
          <a:xfrm>
            <a:off x="216088" y="5949125"/>
            <a:ext cx="1167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dirty="0"/>
              <a:t>The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performance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for </a:t>
            </a:r>
            <a:r>
              <a:rPr lang="it-IT" dirty="0" err="1"/>
              <a:t>VitPose</a:t>
            </a:r>
            <a:r>
              <a:rPr lang="it-IT" dirty="0"/>
              <a:t>++ </a:t>
            </a:r>
            <a:r>
              <a:rPr lang="it-IT" dirty="0" err="1"/>
              <a:t>than</a:t>
            </a:r>
            <a:r>
              <a:rPr lang="it-IT" dirty="0"/>
              <a:t> Yolo26x-Pose, and </a:t>
            </a:r>
            <a:r>
              <a:rPr lang="it-IT" dirty="0" err="1"/>
              <a:t>even</a:t>
            </a:r>
            <a:r>
              <a:rPr lang="it-IT" dirty="0"/>
              <a:t> more with the </a:t>
            </a:r>
            <a:r>
              <a:rPr lang="it-IT" dirty="0" err="1"/>
              <a:t>SAW_frame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73127B0-E9D6-DE0C-B5B7-3237A7C6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56350"/>
            <a:ext cx="701040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983C53-6188-7A3C-91FD-13B83398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9</a:t>
            </a:fld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923EAEF-9065-F8B7-9258-FC138BD45FB9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4, 6</a:t>
            </a:r>
          </a:p>
        </p:txBody>
      </p:sp>
    </p:spTree>
    <p:extLst>
      <p:ext uri="{BB962C8B-B14F-4D97-AF65-F5344CB8AC3E}">
        <p14:creationId xmlns:p14="http://schemas.microsoft.com/office/powerpoint/2010/main" val="222930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ttotitolo 2">
            <a:extLst>
              <a:ext uri="{FF2B5EF4-FFF2-40B4-BE49-F238E27FC236}">
                <a16:creationId xmlns:a16="http://schemas.microsoft.com/office/drawing/2014/main" id="{CA71D883-FC91-EFE1-8F10-E71A97D2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1856" y="140478"/>
            <a:ext cx="926046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(3/5) - Overall reliability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65AEC63-E8EC-1E78-E63B-2E6B82DDE4AE}"/>
              </a:ext>
            </a:extLst>
          </p:cNvPr>
          <p:cNvSpPr txBox="1"/>
          <p:nvPr/>
        </p:nvSpPr>
        <p:spPr>
          <a:xfrm>
            <a:off x="3264088" y="724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b="1" dirty="0"/>
              <a:t>Dataset </a:t>
            </a:r>
            <a:r>
              <a:rPr lang="it-IT" b="1" dirty="0" err="1"/>
              <a:t>SAW_frame_EntireSwim</a:t>
            </a:r>
            <a:endParaRPr lang="it-IT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973792-6486-5360-C349-64838DC0C3BA}"/>
              </a:ext>
            </a:extLst>
          </p:cNvPr>
          <p:cNvSpPr txBox="1"/>
          <p:nvPr/>
        </p:nvSpPr>
        <p:spPr>
          <a:xfrm>
            <a:off x="3264088" y="25852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b="1" dirty="0"/>
              <a:t>Dataset </a:t>
            </a:r>
            <a:r>
              <a:rPr lang="it-IT" b="1" dirty="0" err="1"/>
              <a:t>SAW_frame</a:t>
            </a:r>
            <a:endParaRPr lang="it-IT" b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CEB8F40-4521-C910-5DA1-F1DAA40A1ED3}"/>
              </a:ext>
            </a:extLst>
          </p:cNvPr>
          <p:cNvSpPr txBox="1"/>
          <p:nvPr/>
        </p:nvSpPr>
        <p:spPr>
          <a:xfrm>
            <a:off x="256540" y="4441738"/>
            <a:ext cx="11678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The </a:t>
            </a:r>
            <a:r>
              <a:rPr lang="it-IT" dirty="0" err="1"/>
              <a:t>VitPose</a:t>
            </a:r>
            <a:r>
              <a:rPr lang="it-IT" dirty="0"/>
              <a:t>++ model </a:t>
            </a:r>
            <a:r>
              <a:rPr lang="it-IT" dirty="0" err="1"/>
              <a:t>is</a:t>
            </a:r>
            <a:r>
              <a:rPr lang="it-IT" dirty="0"/>
              <a:t> more aggressive in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 on the </a:t>
            </a:r>
            <a:r>
              <a:rPr lang="it-IT" dirty="0" err="1"/>
              <a:t>SAW_frame</a:t>
            </a:r>
            <a:r>
              <a:rPr lang="it-IT" dirty="0"/>
              <a:t> dataset, so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more prone to </a:t>
            </a:r>
            <a:r>
              <a:rPr lang="it-IT" dirty="0" err="1"/>
              <a:t>hallucinate</a:t>
            </a:r>
            <a:r>
              <a:rPr lang="it-IT" dirty="0"/>
              <a:t> KP </a:t>
            </a:r>
            <a:r>
              <a:rPr lang="it-IT" dirty="0" err="1"/>
              <a:t>that</a:t>
            </a:r>
            <a:r>
              <a:rPr lang="it-IT" dirty="0"/>
              <a:t> are </a:t>
            </a:r>
            <a:r>
              <a:rPr lang="it-IT" dirty="0" err="1"/>
              <a:t>marked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invisible</a:t>
            </a:r>
            <a:r>
              <a:rPr lang="it-IT" dirty="0"/>
              <a:t>/out-of-frame in the GT. </a:t>
            </a:r>
            <a:br>
              <a:rPr lang="it-IT" dirty="0"/>
            </a:br>
            <a:endParaRPr lang="it-IT" dirty="0"/>
          </a:p>
          <a:p>
            <a:pPr>
              <a:buNone/>
            </a:pPr>
            <a:r>
              <a:rPr lang="it-IT" dirty="0"/>
              <a:t>YOLO26x-Pose </a:t>
            </a:r>
            <a:r>
              <a:rPr lang="it-IT" dirty="0" err="1"/>
              <a:t>is</a:t>
            </a:r>
            <a:r>
              <a:rPr lang="it-IT" dirty="0"/>
              <a:t> more conservative and can miss some GT </a:t>
            </a:r>
            <a:r>
              <a:rPr lang="it-IT" dirty="0" err="1"/>
              <a:t>visible</a:t>
            </a:r>
            <a:r>
              <a:rPr lang="it-IT" dirty="0"/>
              <a:t> KP. 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behaviours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be </a:t>
            </a:r>
            <a:r>
              <a:rPr lang="it-IT" dirty="0" err="1"/>
              <a:t>partially</a:t>
            </a:r>
            <a:r>
              <a:rPr lang="it-IT" dirty="0"/>
              <a:t> </a:t>
            </a:r>
            <a:r>
              <a:rPr lang="it-IT" dirty="0" err="1"/>
              <a:t>amplified</a:t>
            </a:r>
            <a:r>
              <a:rPr lang="it-IT" dirty="0"/>
              <a:t> by the confidence </a:t>
            </a:r>
            <a:r>
              <a:rPr lang="it-IT" dirty="0" err="1"/>
              <a:t>thresholds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 the </a:t>
            </a:r>
            <a:r>
              <a:rPr lang="it-IT" dirty="0" err="1"/>
              <a:t>inference</a:t>
            </a:r>
            <a:r>
              <a:rPr lang="it-IT" dirty="0"/>
              <a:t> </a:t>
            </a:r>
            <a:r>
              <a:rPr lang="it-IT" dirty="0" err="1"/>
              <a:t>VitPose</a:t>
            </a:r>
            <a:r>
              <a:rPr lang="it-IT" dirty="0"/>
              <a:t>++ pipeline,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little</a:t>
            </a:r>
            <a:r>
              <a:rPr lang="it-IT" dirty="0"/>
              <a:t> more permissive </a:t>
            </a:r>
            <a:r>
              <a:rPr lang="it-IT" dirty="0" err="1"/>
              <a:t>than</a:t>
            </a:r>
            <a:r>
              <a:rPr lang="it-IT" dirty="0"/>
              <a:t> the one </a:t>
            </a:r>
            <a:r>
              <a:rPr lang="it-IT" dirty="0" err="1"/>
              <a:t>used</a:t>
            </a:r>
            <a:r>
              <a:rPr lang="it-IT" dirty="0"/>
              <a:t> for Yolo26x-Pose.</a:t>
            </a:r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71C1545C-458D-5FED-3D70-A2C12068A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519995"/>
              </p:ext>
            </p:extLst>
          </p:nvPr>
        </p:nvGraphicFramePr>
        <p:xfrm>
          <a:off x="1054288" y="1245790"/>
          <a:ext cx="9888032" cy="1219200"/>
        </p:xfrm>
        <a:graphic>
          <a:graphicData uri="http://schemas.openxmlformats.org/drawingml/2006/table">
            <a:tbl>
              <a:tblPr/>
              <a:tblGrid>
                <a:gridCol w="2472008">
                  <a:extLst>
                    <a:ext uri="{9D8B030D-6E8A-4147-A177-3AD203B41FA5}">
                      <a16:colId xmlns:a16="http://schemas.microsoft.com/office/drawing/2014/main" val="1589007293"/>
                    </a:ext>
                  </a:extLst>
                </a:gridCol>
                <a:gridCol w="2472008">
                  <a:extLst>
                    <a:ext uri="{9D8B030D-6E8A-4147-A177-3AD203B41FA5}">
                      <a16:colId xmlns:a16="http://schemas.microsoft.com/office/drawing/2014/main" val="3238100786"/>
                    </a:ext>
                  </a:extLst>
                </a:gridCol>
                <a:gridCol w="2472008">
                  <a:extLst>
                    <a:ext uri="{9D8B030D-6E8A-4147-A177-3AD203B41FA5}">
                      <a16:colId xmlns:a16="http://schemas.microsoft.com/office/drawing/2014/main" val="2223886360"/>
                    </a:ext>
                  </a:extLst>
                </a:gridCol>
                <a:gridCol w="2472008">
                  <a:extLst>
                    <a:ext uri="{9D8B030D-6E8A-4147-A177-3AD203B41FA5}">
                      <a16:colId xmlns:a16="http://schemas.microsoft.com/office/drawing/2014/main" val="3642287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Metric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YOLO26x-Pose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6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Frames with </a:t>
                      </a:r>
                      <a:r>
                        <a:rPr lang="it-IT" sz="1400" dirty="0" err="1"/>
                        <a:t>predictions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1498 / 1498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1498 / 1498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88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Missing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Visible</a:t>
                      </a:r>
                      <a:r>
                        <a:rPr lang="it-IT" sz="1400" dirty="0"/>
                        <a:t> KP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0.008%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0.000%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VitPose++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39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Invisible</a:t>
                      </a:r>
                      <a:r>
                        <a:rPr lang="it-IT" sz="1400" dirty="0"/>
                        <a:t> KP from GT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11863"/>
                  </a:ext>
                </a:extLst>
              </a:tr>
            </a:tbl>
          </a:graphicData>
        </a:graphic>
      </p:graphicFrame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3A80C556-3810-2915-EE4A-AB721986C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82700"/>
              </p:ext>
            </p:extLst>
          </p:nvPr>
        </p:nvGraphicFramePr>
        <p:xfrm>
          <a:off x="740504" y="3074800"/>
          <a:ext cx="10515600" cy="1219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798451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80877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19080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112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Metric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YOLO26x-Pose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6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Frames with </a:t>
                      </a:r>
                      <a:r>
                        <a:rPr lang="it-IT" sz="1400" dirty="0" err="1"/>
                        <a:t>predictions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1278 / 1359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1359 / 1359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67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Missing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Visible</a:t>
                      </a:r>
                      <a:r>
                        <a:rPr lang="it-IT" sz="1400" dirty="0"/>
                        <a:t> KP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1.483%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0.350%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VitPose</a:t>
                      </a:r>
                      <a:r>
                        <a:rPr lang="it-IT" sz="1400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69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Invisible</a:t>
                      </a:r>
                      <a:r>
                        <a:rPr lang="it-IT" sz="1400" dirty="0"/>
                        <a:t> KP from GT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15.969%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30.607%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YOLO26x-Pose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228822"/>
                  </a:ext>
                </a:extLst>
              </a:tr>
            </a:tbl>
          </a:graphicData>
        </a:graphic>
      </p:graphicFrame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787622D0-7701-BCDA-A6F7-F5A2BA4D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8723" y="6356350"/>
            <a:ext cx="6834554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00052FF-3313-E385-804A-1B442D63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10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18D54F6-5947-1443-028B-BB73E839DC2D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4, 6, 7</a:t>
            </a:r>
          </a:p>
        </p:txBody>
      </p:sp>
    </p:spTree>
    <p:extLst>
      <p:ext uri="{BB962C8B-B14F-4D97-AF65-F5344CB8AC3E}">
        <p14:creationId xmlns:p14="http://schemas.microsoft.com/office/powerpoint/2010/main" val="119807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A276E6-1E4B-7CFA-4ED0-832679C25405}"/>
              </a:ext>
            </a:extLst>
          </p:cNvPr>
          <p:cNvSpPr txBox="1"/>
          <p:nvPr/>
        </p:nvSpPr>
        <p:spPr>
          <a:xfrm>
            <a:off x="5920552" y="1254991"/>
            <a:ext cx="46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201CA18-D27D-7543-A91A-8132A4AEDEAE}"/>
              </a:ext>
            </a:extLst>
          </p:cNvPr>
          <p:cNvSpPr txBox="1"/>
          <p:nvPr/>
        </p:nvSpPr>
        <p:spPr>
          <a:xfrm>
            <a:off x="9498333" y="1253714"/>
            <a:ext cx="123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VitPose</a:t>
            </a:r>
            <a:r>
              <a:rPr lang="it-IT" b="1" dirty="0"/>
              <a:t>++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EFC3176-DE5E-E699-E9FE-643C6D3B19EC}"/>
              </a:ext>
            </a:extLst>
          </p:cNvPr>
          <p:cNvSpPr txBox="1"/>
          <p:nvPr/>
        </p:nvSpPr>
        <p:spPr>
          <a:xfrm>
            <a:off x="1447108" y="1251160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Yolo26x-Pose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784ADA7-14FF-A215-C4A0-77DDA5818406}"/>
              </a:ext>
            </a:extLst>
          </p:cNvPr>
          <p:cNvGraphicFramePr>
            <a:graphicFrameLocks noGrp="1"/>
          </p:cNvGraphicFramePr>
          <p:nvPr/>
        </p:nvGraphicFramePr>
        <p:xfrm>
          <a:off x="1279772" y="1620492"/>
          <a:ext cx="1849894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947">
                  <a:extLst>
                    <a:ext uri="{9D8B030D-6E8A-4147-A177-3AD203B41FA5}">
                      <a16:colId xmlns:a16="http://schemas.microsoft.com/office/drawing/2014/main" val="3478133802"/>
                    </a:ext>
                  </a:extLst>
                </a:gridCol>
                <a:gridCol w="924947">
                  <a:extLst>
                    <a:ext uri="{9D8B030D-6E8A-4147-A177-3AD203B41FA5}">
                      <a16:colId xmlns:a16="http://schemas.microsoft.com/office/drawing/2014/main" val="35928783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6007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0.99599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0.93190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7001084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C1F96F4-5B73-5D54-7CBF-4433D2DD896D}"/>
              </a:ext>
            </a:extLst>
          </p:cNvPr>
          <p:cNvGraphicFramePr>
            <a:graphicFrameLocks noGrp="1"/>
          </p:cNvGraphicFramePr>
          <p:nvPr/>
        </p:nvGraphicFramePr>
        <p:xfrm>
          <a:off x="9294116" y="1652805"/>
          <a:ext cx="1589526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763">
                  <a:extLst>
                    <a:ext uri="{9D8B030D-6E8A-4147-A177-3AD203B41FA5}">
                      <a16:colId xmlns:a16="http://schemas.microsoft.com/office/drawing/2014/main" val="837044430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677370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9715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0.98531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0.97822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1830449"/>
                  </a:ext>
                </a:extLst>
              </a:tr>
            </a:tbl>
          </a:graphicData>
        </a:graphic>
      </p:graphicFrame>
      <p:sp>
        <p:nvSpPr>
          <p:cNvPr id="8" name="Sottotitolo 2">
            <a:extLst>
              <a:ext uri="{FF2B5EF4-FFF2-40B4-BE49-F238E27FC236}">
                <a16:creationId xmlns:a16="http://schemas.microsoft.com/office/drawing/2014/main" id="{36EA5B4C-AB2D-48BC-EC80-EEEADC944E76}"/>
              </a:ext>
            </a:extLst>
          </p:cNvPr>
          <p:cNvSpPr txBox="1">
            <a:spLocks/>
          </p:cNvSpPr>
          <p:nvPr/>
        </p:nvSpPr>
        <p:spPr>
          <a:xfrm>
            <a:off x="1790888" y="699278"/>
            <a:ext cx="9144000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Dataset </a:t>
            </a:r>
            <a:r>
              <a:rPr lang="en-US" b="1" dirty="0" err="1"/>
              <a:t>SAW_frames_EntireSwim</a:t>
            </a:r>
            <a:endParaRPr lang="it-IT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83D853-D7CC-3329-3014-09B691DB6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8496" y="140478"/>
            <a:ext cx="714718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(4/5) - Overlays</a:t>
            </a:r>
            <a:endParaRPr lang="it-IT" b="1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0F5498-EBE1-0E29-23C5-F0347614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631" y="6356350"/>
            <a:ext cx="7080738" cy="365125"/>
          </a:xfrm>
        </p:spPr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A63DB3-31F1-2D38-E1A2-59157EAD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11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6AC6C4A-B661-B1DA-02A9-38A0A1E39E43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6EBADE7D-2ACD-FB48-D194-78CE6FD82DED}"/>
              </a:ext>
            </a:extLst>
          </p:cNvPr>
          <p:cNvSpPr/>
          <p:nvPr/>
        </p:nvSpPr>
        <p:spPr>
          <a:xfrm rot="12373165">
            <a:off x="2342499" y="3082471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B2D0AFF7-3105-E82D-25FF-76E0B3AA60BC}"/>
              </a:ext>
            </a:extLst>
          </p:cNvPr>
          <p:cNvSpPr/>
          <p:nvPr/>
        </p:nvSpPr>
        <p:spPr>
          <a:xfrm rot="12373165">
            <a:off x="9473916" y="4492121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C28D7CA7-784F-DD59-D5FA-9950AB9510FF}"/>
              </a:ext>
            </a:extLst>
          </p:cNvPr>
          <p:cNvSpPr/>
          <p:nvPr/>
        </p:nvSpPr>
        <p:spPr>
          <a:xfrm rot="5400000">
            <a:off x="1894494" y="618907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55E158BD-2155-ED5E-C465-A14114B7204C}"/>
              </a:ext>
            </a:extLst>
          </p:cNvPr>
          <p:cNvSpPr/>
          <p:nvPr/>
        </p:nvSpPr>
        <p:spPr>
          <a:xfrm rot="12373165">
            <a:off x="740015" y="5934237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F869F659-5079-BCE8-DDD4-303DBD5CC707}"/>
              </a:ext>
            </a:extLst>
          </p:cNvPr>
          <p:cNvSpPr/>
          <p:nvPr/>
        </p:nvSpPr>
        <p:spPr>
          <a:xfrm rot="3192856">
            <a:off x="2296630" y="221548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in giù 26">
            <a:extLst>
              <a:ext uri="{FF2B5EF4-FFF2-40B4-BE49-F238E27FC236}">
                <a16:creationId xmlns:a16="http://schemas.microsoft.com/office/drawing/2014/main" id="{321E863D-720B-1B2F-F0A7-8C8D47FC6574}"/>
              </a:ext>
            </a:extLst>
          </p:cNvPr>
          <p:cNvSpPr/>
          <p:nvPr/>
        </p:nvSpPr>
        <p:spPr>
          <a:xfrm rot="12373165">
            <a:off x="1744087" y="470393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817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A276E6-1E4B-7CFA-4ED0-832679C25405}"/>
              </a:ext>
            </a:extLst>
          </p:cNvPr>
          <p:cNvSpPr txBox="1"/>
          <p:nvPr/>
        </p:nvSpPr>
        <p:spPr>
          <a:xfrm>
            <a:off x="5920552" y="1254991"/>
            <a:ext cx="46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201CA18-D27D-7543-A91A-8132A4AEDEAE}"/>
              </a:ext>
            </a:extLst>
          </p:cNvPr>
          <p:cNvSpPr txBox="1"/>
          <p:nvPr/>
        </p:nvSpPr>
        <p:spPr>
          <a:xfrm>
            <a:off x="9498333" y="1253714"/>
            <a:ext cx="123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VitPose</a:t>
            </a:r>
            <a:r>
              <a:rPr lang="it-IT" b="1" dirty="0"/>
              <a:t>++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EFC3176-DE5E-E699-E9FE-643C6D3B19EC}"/>
              </a:ext>
            </a:extLst>
          </p:cNvPr>
          <p:cNvSpPr txBox="1"/>
          <p:nvPr/>
        </p:nvSpPr>
        <p:spPr>
          <a:xfrm>
            <a:off x="1447108" y="1251160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Yolo26x-Pose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784ADA7-14FF-A215-C4A0-77DDA581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42161"/>
              </p:ext>
            </p:extLst>
          </p:nvPr>
        </p:nvGraphicFramePr>
        <p:xfrm>
          <a:off x="1279772" y="1620492"/>
          <a:ext cx="1849894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947">
                  <a:extLst>
                    <a:ext uri="{9D8B030D-6E8A-4147-A177-3AD203B41FA5}">
                      <a16:colId xmlns:a16="http://schemas.microsoft.com/office/drawing/2014/main" val="3478133802"/>
                    </a:ext>
                  </a:extLst>
                </a:gridCol>
                <a:gridCol w="924947">
                  <a:extLst>
                    <a:ext uri="{9D8B030D-6E8A-4147-A177-3AD203B41FA5}">
                      <a16:colId xmlns:a16="http://schemas.microsoft.com/office/drawing/2014/main" val="35928783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6007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0.99599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0.93190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7001084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C1F96F4-5B73-5D54-7CBF-4433D2DD8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36476"/>
              </p:ext>
            </p:extLst>
          </p:nvPr>
        </p:nvGraphicFramePr>
        <p:xfrm>
          <a:off x="9294116" y="1652805"/>
          <a:ext cx="1589526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763">
                  <a:extLst>
                    <a:ext uri="{9D8B030D-6E8A-4147-A177-3AD203B41FA5}">
                      <a16:colId xmlns:a16="http://schemas.microsoft.com/office/drawing/2014/main" val="837044430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677370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9715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0.98531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0.97822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1830449"/>
                  </a:ext>
                </a:extLst>
              </a:tr>
            </a:tbl>
          </a:graphicData>
        </a:graphic>
      </p:graphicFrame>
      <p:sp>
        <p:nvSpPr>
          <p:cNvPr id="8" name="Sottotitolo 2">
            <a:extLst>
              <a:ext uri="{FF2B5EF4-FFF2-40B4-BE49-F238E27FC236}">
                <a16:creationId xmlns:a16="http://schemas.microsoft.com/office/drawing/2014/main" id="{36EA5B4C-AB2D-48BC-EC80-EEEADC944E76}"/>
              </a:ext>
            </a:extLst>
          </p:cNvPr>
          <p:cNvSpPr txBox="1">
            <a:spLocks/>
          </p:cNvSpPr>
          <p:nvPr/>
        </p:nvSpPr>
        <p:spPr>
          <a:xfrm>
            <a:off x="1790888" y="699278"/>
            <a:ext cx="9144000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Dataset </a:t>
            </a:r>
            <a:r>
              <a:rPr lang="en-US" b="1" dirty="0" err="1"/>
              <a:t>SAW_frames_EntireSwim</a:t>
            </a:r>
            <a:endParaRPr lang="it-IT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283D853-D7CC-3329-3014-09B691DB6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8496" y="140478"/>
            <a:ext cx="714718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(4/5) - Overlays</a:t>
            </a:r>
            <a:endParaRPr lang="it-IT" b="1" dirty="0"/>
          </a:p>
        </p:txBody>
      </p:sp>
      <p:sp>
        <p:nvSpPr>
          <p:cNvPr id="6" name="Freccia in giù 5">
            <a:extLst>
              <a:ext uri="{FF2B5EF4-FFF2-40B4-BE49-F238E27FC236}">
                <a16:creationId xmlns:a16="http://schemas.microsoft.com/office/drawing/2014/main" id="{06DD5097-88E5-9950-8093-B05658A7547A}"/>
              </a:ext>
            </a:extLst>
          </p:cNvPr>
          <p:cNvSpPr/>
          <p:nvPr/>
        </p:nvSpPr>
        <p:spPr>
          <a:xfrm rot="2720829">
            <a:off x="2285516" y="2112077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340CE8A3-648A-E169-34DF-5E97AEB1037F}"/>
              </a:ext>
            </a:extLst>
          </p:cNvPr>
          <p:cNvSpPr/>
          <p:nvPr/>
        </p:nvSpPr>
        <p:spPr>
          <a:xfrm rot="11194933">
            <a:off x="2450223" y="311155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C0623971-EA58-D0D0-47CB-10C7B46D836E}"/>
              </a:ext>
            </a:extLst>
          </p:cNvPr>
          <p:cNvSpPr/>
          <p:nvPr/>
        </p:nvSpPr>
        <p:spPr>
          <a:xfrm rot="12373165">
            <a:off x="9449326" y="4580501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C67C71B1-BEE5-6243-CF9F-D3FBB8219E5C}"/>
              </a:ext>
            </a:extLst>
          </p:cNvPr>
          <p:cNvSpPr/>
          <p:nvPr/>
        </p:nvSpPr>
        <p:spPr>
          <a:xfrm rot="12373165">
            <a:off x="1591687" y="455153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B4436E01-49C6-5C11-6C5B-52A8B512B3E5}"/>
              </a:ext>
            </a:extLst>
          </p:cNvPr>
          <p:cNvSpPr/>
          <p:nvPr/>
        </p:nvSpPr>
        <p:spPr>
          <a:xfrm rot="16200000">
            <a:off x="8833739" y="6107922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54F0246E-79E8-BFD0-4CBB-7C0CDA89DB7D}"/>
              </a:ext>
            </a:extLst>
          </p:cNvPr>
          <p:cNvSpPr/>
          <p:nvPr/>
        </p:nvSpPr>
        <p:spPr>
          <a:xfrm rot="12373165">
            <a:off x="653406" y="5989533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24EAC8E6-9188-13C5-CABF-744A3B27AC46}"/>
              </a:ext>
            </a:extLst>
          </p:cNvPr>
          <p:cNvSpPr/>
          <p:nvPr/>
        </p:nvSpPr>
        <p:spPr>
          <a:xfrm rot="6614899">
            <a:off x="1909468" y="6117910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51B683-7E89-8734-9C53-F2183B87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4294" y="6356350"/>
            <a:ext cx="5523412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A67FAE-57D6-2740-DA0D-65AFA202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12</a:t>
            </a:fld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4388597-74AD-5DE1-67F3-81948CA67F36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3468045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A276E6-1E4B-7CFA-4ED0-832679C25405}"/>
              </a:ext>
            </a:extLst>
          </p:cNvPr>
          <p:cNvSpPr txBox="1"/>
          <p:nvPr/>
        </p:nvSpPr>
        <p:spPr>
          <a:xfrm>
            <a:off x="5860269" y="1269135"/>
            <a:ext cx="46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201CA18-D27D-7543-A91A-8132A4AEDEAE}"/>
              </a:ext>
            </a:extLst>
          </p:cNvPr>
          <p:cNvSpPr txBox="1"/>
          <p:nvPr/>
        </p:nvSpPr>
        <p:spPr>
          <a:xfrm>
            <a:off x="9438050" y="1267858"/>
            <a:ext cx="123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VitPose</a:t>
            </a:r>
            <a:r>
              <a:rPr lang="it-IT" b="1" dirty="0"/>
              <a:t>++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EFC3176-DE5E-E699-E9FE-643C6D3B19EC}"/>
              </a:ext>
            </a:extLst>
          </p:cNvPr>
          <p:cNvSpPr txBox="1"/>
          <p:nvPr/>
        </p:nvSpPr>
        <p:spPr>
          <a:xfrm>
            <a:off x="1386825" y="1265304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Yolo26x-Pose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784ADA7-14FF-A215-C4A0-77DDA5818406}"/>
              </a:ext>
            </a:extLst>
          </p:cNvPr>
          <p:cNvGraphicFramePr>
            <a:graphicFrameLocks noGrp="1"/>
          </p:cNvGraphicFramePr>
          <p:nvPr/>
        </p:nvGraphicFramePr>
        <p:xfrm>
          <a:off x="1219489" y="1634636"/>
          <a:ext cx="1849894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947">
                  <a:extLst>
                    <a:ext uri="{9D8B030D-6E8A-4147-A177-3AD203B41FA5}">
                      <a16:colId xmlns:a16="http://schemas.microsoft.com/office/drawing/2014/main" val="3478133802"/>
                    </a:ext>
                  </a:extLst>
                </a:gridCol>
                <a:gridCol w="924947">
                  <a:extLst>
                    <a:ext uri="{9D8B030D-6E8A-4147-A177-3AD203B41FA5}">
                      <a16:colId xmlns:a16="http://schemas.microsoft.com/office/drawing/2014/main" val="35928783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AR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6007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0.93156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0.87474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7001084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C1F96F4-5B73-5D54-7CBF-4433D2DD896D}"/>
              </a:ext>
            </a:extLst>
          </p:cNvPr>
          <p:cNvGraphicFramePr>
            <a:graphicFrameLocks noGrp="1"/>
          </p:cNvGraphicFramePr>
          <p:nvPr/>
        </p:nvGraphicFramePr>
        <p:xfrm>
          <a:off x="9233833" y="1666949"/>
          <a:ext cx="1589526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763">
                  <a:extLst>
                    <a:ext uri="{9D8B030D-6E8A-4147-A177-3AD203B41FA5}">
                      <a16:colId xmlns:a16="http://schemas.microsoft.com/office/drawing/2014/main" val="837044430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677370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9715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0.93804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0.93288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1830449"/>
                  </a:ext>
                </a:extLst>
              </a:tr>
            </a:tbl>
          </a:graphicData>
        </a:graphic>
      </p:graphicFrame>
      <p:sp>
        <p:nvSpPr>
          <p:cNvPr id="8" name="Sottotitolo 2">
            <a:extLst>
              <a:ext uri="{FF2B5EF4-FFF2-40B4-BE49-F238E27FC236}">
                <a16:creationId xmlns:a16="http://schemas.microsoft.com/office/drawing/2014/main" id="{36EA5B4C-AB2D-48BC-EC80-EEEADC944E76}"/>
              </a:ext>
            </a:extLst>
          </p:cNvPr>
          <p:cNvSpPr txBox="1">
            <a:spLocks/>
          </p:cNvSpPr>
          <p:nvPr/>
        </p:nvSpPr>
        <p:spPr>
          <a:xfrm>
            <a:off x="1740088" y="669802"/>
            <a:ext cx="9144000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Dataset </a:t>
            </a:r>
            <a:r>
              <a:rPr lang="en-US" b="1" dirty="0" err="1"/>
              <a:t>SAW_frames</a:t>
            </a:r>
            <a:endParaRPr lang="it-IT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C449191-52E9-5BC2-38CC-F200E2AC0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576" y="140478"/>
            <a:ext cx="789902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(5/5) - Overlays</a:t>
            </a:r>
            <a:endParaRPr lang="it-IT" b="1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6B3706-14D5-B391-C437-717FF4FE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1092" y="6356350"/>
            <a:ext cx="5849816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93FD57-3E8A-FF55-E684-FF84F4DE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13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04FF38-FA67-847F-34D1-0F96F489082F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95788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A276E6-1E4B-7CFA-4ED0-832679C25405}"/>
              </a:ext>
            </a:extLst>
          </p:cNvPr>
          <p:cNvSpPr txBox="1"/>
          <p:nvPr/>
        </p:nvSpPr>
        <p:spPr>
          <a:xfrm>
            <a:off x="5860269" y="1269135"/>
            <a:ext cx="46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201CA18-D27D-7543-A91A-8132A4AEDEAE}"/>
              </a:ext>
            </a:extLst>
          </p:cNvPr>
          <p:cNvSpPr txBox="1"/>
          <p:nvPr/>
        </p:nvSpPr>
        <p:spPr>
          <a:xfrm>
            <a:off x="9438050" y="1267858"/>
            <a:ext cx="123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VitPose</a:t>
            </a:r>
            <a:r>
              <a:rPr lang="it-IT" b="1" dirty="0"/>
              <a:t>++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EFC3176-DE5E-E699-E9FE-643C6D3B19EC}"/>
              </a:ext>
            </a:extLst>
          </p:cNvPr>
          <p:cNvSpPr txBox="1"/>
          <p:nvPr/>
        </p:nvSpPr>
        <p:spPr>
          <a:xfrm>
            <a:off x="1386825" y="1265304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Yolo26x-Pose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784ADA7-14FF-A215-C4A0-77DDA5818406}"/>
              </a:ext>
            </a:extLst>
          </p:cNvPr>
          <p:cNvGraphicFramePr>
            <a:graphicFrameLocks noGrp="1"/>
          </p:cNvGraphicFramePr>
          <p:nvPr/>
        </p:nvGraphicFramePr>
        <p:xfrm>
          <a:off x="1219489" y="1634636"/>
          <a:ext cx="1849894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4947">
                  <a:extLst>
                    <a:ext uri="{9D8B030D-6E8A-4147-A177-3AD203B41FA5}">
                      <a16:colId xmlns:a16="http://schemas.microsoft.com/office/drawing/2014/main" val="3478133802"/>
                    </a:ext>
                  </a:extLst>
                </a:gridCol>
                <a:gridCol w="924947">
                  <a:extLst>
                    <a:ext uri="{9D8B030D-6E8A-4147-A177-3AD203B41FA5}">
                      <a16:colId xmlns:a16="http://schemas.microsoft.com/office/drawing/2014/main" val="35928783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AR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6007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0.93156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0.87474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7001084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C1F96F4-5B73-5D54-7CBF-4433D2DD896D}"/>
              </a:ext>
            </a:extLst>
          </p:cNvPr>
          <p:cNvGraphicFramePr>
            <a:graphicFrameLocks noGrp="1"/>
          </p:cNvGraphicFramePr>
          <p:nvPr/>
        </p:nvGraphicFramePr>
        <p:xfrm>
          <a:off x="9233833" y="1666949"/>
          <a:ext cx="1589526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763">
                  <a:extLst>
                    <a:ext uri="{9D8B030D-6E8A-4147-A177-3AD203B41FA5}">
                      <a16:colId xmlns:a16="http://schemas.microsoft.com/office/drawing/2014/main" val="837044430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677370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AR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AP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9715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0.93804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highlight>
                            <a:srgbClr val="FF00FF"/>
                          </a:highlight>
                        </a:rPr>
                        <a:t>0.93288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FF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1830449"/>
                  </a:ext>
                </a:extLst>
              </a:tr>
            </a:tbl>
          </a:graphicData>
        </a:graphic>
      </p:graphicFrame>
      <p:sp>
        <p:nvSpPr>
          <p:cNvPr id="8" name="Sottotitolo 2">
            <a:extLst>
              <a:ext uri="{FF2B5EF4-FFF2-40B4-BE49-F238E27FC236}">
                <a16:creationId xmlns:a16="http://schemas.microsoft.com/office/drawing/2014/main" id="{36EA5B4C-AB2D-48BC-EC80-EEEADC944E76}"/>
              </a:ext>
            </a:extLst>
          </p:cNvPr>
          <p:cNvSpPr txBox="1">
            <a:spLocks/>
          </p:cNvSpPr>
          <p:nvPr/>
        </p:nvSpPr>
        <p:spPr>
          <a:xfrm>
            <a:off x="1740088" y="669802"/>
            <a:ext cx="9144000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Dataset </a:t>
            </a:r>
            <a:r>
              <a:rPr lang="en-US" b="1" dirty="0" err="1"/>
              <a:t>SAW_frames</a:t>
            </a:r>
            <a:endParaRPr lang="it-IT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C449191-52E9-5BC2-38CC-F200E2AC0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576" y="140478"/>
            <a:ext cx="789902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- Basic Test  (5/5) - Overlays</a:t>
            </a:r>
            <a:endParaRPr lang="it-IT" b="1" dirty="0"/>
          </a:p>
        </p:txBody>
      </p:sp>
      <p:sp>
        <p:nvSpPr>
          <p:cNvPr id="5" name="Freccia in giù 4">
            <a:extLst>
              <a:ext uri="{FF2B5EF4-FFF2-40B4-BE49-F238E27FC236}">
                <a16:creationId xmlns:a16="http://schemas.microsoft.com/office/drawing/2014/main" id="{5A559AE8-E517-9197-582F-AE6983B9A242}"/>
              </a:ext>
            </a:extLst>
          </p:cNvPr>
          <p:cNvSpPr/>
          <p:nvPr/>
        </p:nvSpPr>
        <p:spPr>
          <a:xfrm rot="3994071">
            <a:off x="11170708" y="5846715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EC359DDC-8601-AC97-945E-BDC867EEF9A8}"/>
              </a:ext>
            </a:extLst>
          </p:cNvPr>
          <p:cNvSpPr/>
          <p:nvPr/>
        </p:nvSpPr>
        <p:spPr>
          <a:xfrm rot="3994071">
            <a:off x="3269484" y="4505594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C796141A-68E1-B7E6-5155-685D35172087}"/>
              </a:ext>
            </a:extLst>
          </p:cNvPr>
          <p:cNvSpPr/>
          <p:nvPr/>
        </p:nvSpPr>
        <p:spPr>
          <a:xfrm rot="20373744">
            <a:off x="1866469" y="5745114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in giù 13">
            <a:extLst>
              <a:ext uri="{FF2B5EF4-FFF2-40B4-BE49-F238E27FC236}">
                <a16:creationId xmlns:a16="http://schemas.microsoft.com/office/drawing/2014/main" id="{B5B39A34-6671-317E-B1AF-19D71CA1CBEE}"/>
              </a:ext>
            </a:extLst>
          </p:cNvPr>
          <p:cNvSpPr/>
          <p:nvPr/>
        </p:nvSpPr>
        <p:spPr>
          <a:xfrm rot="18297979">
            <a:off x="1346693" y="3911971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in giù 15">
            <a:extLst>
              <a:ext uri="{FF2B5EF4-FFF2-40B4-BE49-F238E27FC236}">
                <a16:creationId xmlns:a16="http://schemas.microsoft.com/office/drawing/2014/main" id="{E55621A5-857B-F27B-05D7-30065C9A07B2}"/>
              </a:ext>
            </a:extLst>
          </p:cNvPr>
          <p:cNvSpPr/>
          <p:nvPr/>
        </p:nvSpPr>
        <p:spPr>
          <a:xfrm rot="20373744">
            <a:off x="10332796" y="5511642"/>
            <a:ext cx="555934" cy="50800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5FE5BE6-9832-7BA1-EA1A-6747B58C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Alberto Scocco - PhD student from UnivPM - PhD Internship at CETINIA URJC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91FBEF9-8E97-D4F7-4909-6681ACA0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14</a:t>
            </a:fld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26EB8D0-5280-2ED2-B60C-8BB8698F3F3D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39189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ottotitolo 2">
            <a:extLst>
              <a:ext uri="{FF2B5EF4-FFF2-40B4-BE49-F238E27FC236}">
                <a16:creationId xmlns:a16="http://schemas.microsoft.com/office/drawing/2014/main" id="{CA71D883-FC91-EFE1-8F10-E71A97D24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5296" y="140478"/>
            <a:ext cx="7553584" cy="431482"/>
          </a:xfrm>
        </p:spPr>
        <p:txBody>
          <a:bodyPr>
            <a:normAutofit/>
          </a:bodyPr>
          <a:lstStyle/>
          <a:p>
            <a:r>
              <a:rPr lang="en-US" b="1" dirty="0"/>
              <a:t>Test results – Cross Test  (1/6) – Overall HPE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792A76-D5CA-3215-C79D-FC8F4BF4FC6D}"/>
              </a:ext>
            </a:extLst>
          </p:cNvPr>
          <p:cNvSpPr txBox="1"/>
          <p:nvPr/>
        </p:nvSpPr>
        <p:spPr>
          <a:xfrm>
            <a:off x="256539" y="837254"/>
            <a:ext cx="113258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A strategy to </a:t>
            </a:r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occurence</a:t>
            </a:r>
            <a:r>
              <a:rPr lang="it-IT" dirty="0"/>
              <a:t> of </a:t>
            </a:r>
            <a:r>
              <a:rPr lang="it-IT" dirty="0" err="1"/>
              <a:t>overfitting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to </a:t>
            </a:r>
            <a:r>
              <a:rPr lang="it-IT" dirty="0" err="1"/>
              <a:t>consider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 a) «complete </a:t>
            </a:r>
            <a:r>
              <a:rPr lang="it-IT" dirty="0" err="1"/>
              <a:t>swimmer</a:t>
            </a:r>
            <a:r>
              <a:rPr lang="it-IT" dirty="0"/>
              <a:t> </a:t>
            </a:r>
            <a:r>
              <a:rPr lang="it-IT" dirty="0" err="1"/>
              <a:t>shape</a:t>
            </a:r>
            <a:r>
              <a:rPr lang="it-IT" dirty="0"/>
              <a:t>» frames </a:t>
            </a:r>
            <a:r>
              <a:rPr lang="it-IT" dirty="0" err="1"/>
              <a:t>occours</a:t>
            </a:r>
            <a:r>
              <a:rPr lang="it-IT" dirty="0"/>
              <a:t> in </a:t>
            </a:r>
            <a:r>
              <a:rPr lang="it-IT" dirty="0" err="1"/>
              <a:t>both</a:t>
            </a:r>
            <a:r>
              <a:rPr lang="it-IT" dirty="0"/>
              <a:t> the </a:t>
            </a:r>
            <a:r>
              <a:rPr lang="it-IT" dirty="0" err="1"/>
              <a:t>Derived</a:t>
            </a:r>
            <a:r>
              <a:rPr lang="it-IT" dirty="0"/>
              <a:t> datasets, </a:t>
            </a:r>
            <a:r>
              <a:rPr lang="it-IT" dirty="0" err="1"/>
              <a:t>instead</a:t>
            </a:r>
            <a:r>
              <a:rPr lang="it-IT" dirty="0"/>
              <a:t> the </a:t>
            </a:r>
            <a:r>
              <a:rPr lang="it-IT" dirty="0" err="1"/>
              <a:t>type</a:t>
            </a:r>
            <a:r>
              <a:rPr lang="it-IT" dirty="0"/>
              <a:t> b) «</a:t>
            </a:r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swimmer</a:t>
            </a:r>
            <a:r>
              <a:rPr lang="it-IT" dirty="0"/>
              <a:t> </a:t>
            </a:r>
            <a:r>
              <a:rPr lang="it-IT" dirty="0" err="1"/>
              <a:t>shape</a:t>
            </a:r>
            <a:r>
              <a:rPr lang="it-IT" dirty="0"/>
              <a:t>» </a:t>
            </a:r>
            <a:r>
              <a:rPr lang="it-IT" dirty="0" err="1"/>
              <a:t>figures</a:t>
            </a:r>
            <a:r>
              <a:rPr lang="it-IT" dirty="0"/>
              <a:t> out </a:t>
            </a:r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dirty="0" err="1"/>
              <a:t>SAW_frames</a:t>
            </a:r>
            <a:r>
              <a:rPr lang="it-IT" dirty="0"/>
              <a:t>. 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interesting</a:t>
            </a:r>
            <a:r>
              <a:rPr lang="it-IT" dirty="0"/>
              <a:t> to </a:t>
            </a:r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conjoint</a:t>
            </a:r>
            <a:r>
              <a:rPr lang="it-IT" dirty="0"/>
              <a:t> </a:t>
            </a:r>
            <a:r>
              <a:rPr lang="it-IT" dirty="0" err="1"/>
              <a:t>effect</a:t>
            </a:r>
            <a:r>
              <a:rPr lang="it-IT" dirty="0"/>
              <a:t> of </a:t>
            </a:r>
            <a:r>
              <a:rPr lang="it-IT" dirty="0" err="1"/>
              <a:t>type</a:t>
            </a:r>
            <a:r>
              <a:rPr lang="it-IT" dirty="0"/>
              <a:t> a) and b) frames on the training </a:t>
            </a:r>
            <a:r>
              <a:rPr lang="it-IT" dirty="0" err="1"/>
              <a:t>process</a:t>
            </a:r>
            <a:r>
              <a:rPr lang="it-IT" dirty="0"/>
              <a:t>, testing with a dataset </a:t>
            </a:r>
            <a:r>
              <a:rPr lang="it-IT" dirty="0" err="1"/>
              <a:t>containing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 a) frames.</a:t>
            </a:r>
          </a:p>
          <a:p>
            <a:pPr>
              <a:buNone/>
            </a:pPr>
            <a:r>
              <a:rPr lang="it-IT" dirty="0"/>
              <a:t> </a:t>
            </a:r>
          </a:p>
          <a:p>
            <a:pPr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made </a:t>
            </a:r>
            <a:r>
              <a:rPr lang="it-IT" dirty="0" err="1"/>
              <a:t>using</a:t>
            </a:r>
            <a:r>
              <a:rPr lang="it-IT" dirty="0"/>
              <a:t>: </a:t>
            </a:r>
          </a:p>
          <a:p>
            <a:pPr marL="285750" indent="-285750">
              <a:buFontTx/>
              <a:buChar char="-"/>
            </a:pPr>
            <a:r>
              <a:rPr lang="it-IT" dirty="0"/>
              <a:t>the models </a:t>
            </a:r>
            <a:r>
              <a:rPr lang="it-IT" dirty="0" err="1"/>
              <a:t>trained</a:t>
            </a:r>
            <a:r>
              <a:rPr lang="it-IT" dirty="0"/>
              <a:t> with </a:t>
            </a:r>
            <a:r>
              <a:rPr lang="it-IT" dirty="0" err="1"/>
              <a:t>SAW_frames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the Test dataset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comes</a:t>
            </a:r>
            <a:r>
              <a:rPr lang="it-IT" dirty="0"/>
              <a:t> from </a:t>
            </a:r>
            <a:r>
              <a:rPr lang="it-IT" dirty="0" err="1"/>
              <a:t>SAW_frames_EntireSwim</a:t>
            </a:r>
            <a:r>
              <a:rPr lang="it-IT" dirty="0"/>
              <a:t>.</a:t>
            </a:r>
          </a:p>
          <a:p>
            <a:pPr marL="285750" indent="-285750">
              <a:buFontTx/>
              <a:buChar char="-"/>
            </a:pPr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:</a:t>
            </a:r>
          </a:p>
          <a:p>
            <a:pPr marL="285750" indent="-285750">
              <a:buFontTx/>
              <a:buChar char="-"/>
            </a:pPr>
            <a:r>
              <a:rPr lang="it-IT" dirty="0"/>
              <a:t>to compare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with the </a:t>
            </a:r>
            <a:r>
              <a:rPr lang="it-IT" dirty="0" err="1"/>
              <a:t>previous</a:t>
            </a:r>
            <a:r>
              <a:rPr lang="it-IT" dirty="0"/>
              <a:t> Basic test</a:t>
            </a:r>
          </a:p>
          <a:p>
            <a:pPr marL="285750" indent="-285750">
              <a:buFontTx/>
              <a:buChar char="-"/>
            </a:pPr>
            <a:r>
              <a:rPr lang="it-IT" dirty="0"/>
              <a:t>to </a:t>
            </a:r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results</a:t>
            </a:r>
            <a:r>
              <a:rPr lang="it-IT" dirty="0"/>
              <a:t> with and </a:t>
            </a:r>
            <a:r>
              <a:rPr lang="it-IT" dirty="0" err="1"/>
              <a:t>without</a:t>
            </a:r>
            <a:r>
              <a:rPr lang="it-IT" dirty="0"/>
              <a:t> the </a:t>
            </a:r>
            <a:r>
              <a:rPr lang="it-IT" dirty="0" err="1"/>
              <a:t>thresholds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N.B.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fair to </a:t>
            </a:r>
            <a:r>
              <a:rPr lang="it-IT" dirty="0" err="1"/>
              <a:t>admit</a:t>
            </a:r>
            <a:r>
              <a:rPr lang="it-IT" dirty="0"/>
              <a:t> the </a:t>
            </a:r>
            <a:r>
              <a:rPr lang="it-IT" dirty="0" err="1"/>
              <a:t>theoretically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presence</a:t>
            </a:r>
            <a:r>
              <a:rPr lang="it-IT" dirty="0"/>
              <a:t> of single </a:t>
            </a:r>
            <a:r>
              <a:rPr lang="it-IT" dirty="0" err="1"/>
              <a:t>elements</a:t>
            </a:r>
            <a:r>
              <a:rPr lang="it-IT" dirty="0"/>
              <a:t> in </a:t>
            </a:r>
            <a:r>
              <a:rPr lang="it-IT" dirty="0" err="1"/>
              <a:t>both</a:t>
            </a:r>
            <a:r>
              <a:rPr lang="it-IT" dirty="0"/>
              <a:t>: </a:t>
            </a:r>
          </a:p>
          <a:p>
            <a:pPr marL="285750" indent="-285750">
              <a:buFontTx/>
              <a:buChar char="-"/>
            </a:pPr>
            <a:r>
              <a:rPr lang="it-IT" dirty="0"/>
              <a:t>Test dataset of </a:t>
            </a:r>
            <a:r>
              <a:rPr lang="it-IT" dirty="0" err="1"/>
              <a:t>SAW_frames_EntireSwim</a:t>
            </a:r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Train/Val datasets of </a:t>
            </a:r>
            <a:r>
              <a:rPr lang="it-IT" dirty="0" err="1"/>
              <a:t>SAW_frames</a:t>
            </a:r>
            <a:r>
              <a:rPr lang="it-IT" dirty="0"/>
              <a:t>. </a:t>
            </a:r>
          </a:p>
          <a:p>
            <a:r>
              <a:rPr lang="it-IT" dirty="0" err="1"/>
              <a:t>Anyway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 can be </a:t>
            </a:r>
            <a:r>
              <a:rPr lang="it-IT" dirty="0" err="1"/>
              <a:t>considered</a:t>
            </a:r>
            <a:r>
              <a:rPr lang="it-IT" dirty="0"/>
              <a:t> </a:t>
            </a:r>
            <a:r>
              <a:rPr lang="it-IT" dirty="0" err="1"/>
              <a:t>slightly</a:t>
            </a:r>
            <a:r>
              <a:rPr lang="it-IT" dirty="0"/>
              <a:t> rare, so </a:t>
            </a:r>
            <a:r>
              <a:rPr lang="it-IT" dirty="0" err="1"/>
              <a:t>irrelevent</a:t>
            </a:r>
            <a:r>
              <a:rPr lang="it-IT" dirty="0"/>
              <a:t> </a:t>
            </a:r>
            <a:r>
              <a:rPr lang="it-IT" dirty="0" err="1"/>
              <a:t>influencing</a:t>
            </a:r>
            <a:r>
              <a:rPr lang="it-IT" dirty="0"/>
              <a:t> the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evaluations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AACDC843-8143-B373-E58F-7DF41C71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9400" y="6356350"/>
            <a:ext cx="655320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FEA1BE2-7A0D-B2FA-6DD3-EA830B66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15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7543CE6-BAE0-DC5B-3ABA-8F1782410CB5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1, 5, 6, 10</a:t>
            </a:r>
          </a:p>
        </p:txBody>
      </p:sp>
    </p:spTree>
    <p:extLst>
      <p:ext uri="{BB962C8B-B14F-4D97-AF65-F5344CB8AC3E}">
        <p14:creationId xmlns:p14="http://schemas.microsoft.com/office/powerpoint/2010/main" val="94900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1332BDD-4F2F-B19B-21AC-31D9B565B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84555"/>
              </p:ext>
            </p:extLst>
          </p:nvPr>
        </p:nvGraphicFramePr>
        <p:xfrm>
          <a:off x="1976120" y="993155"/>
          <a:ext cx="8239759" cy="21845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927">
                  <a:extLst>
                    <a:ext uri="{9D8B030D-6E8A-4147-A177-3AD203B41FA5}">
                      <a16:colId xmlns:a16="http://schemas.microsoft.com/office/drawing/2014/main" val="3508889886"/>
                    </a:ext>
                  </a:extLst>
                </a:gridCol>
                <a:gridCol w="1436713">
                  <a:extLst>
                    <a:ext uri="{9D8B030D-6E8A-4147-A177-3AD203B41FA5}">
                      <a16:colId xmlns:a16="http://schemas.microsoft.com/office/drawing/2014/main" val="31417980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417050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68956231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701700971"/>
                    </a:ext>
                  </a:extLst>
                </a:gridCol>
              </a:tblGrid>
              <a:tr h="426251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Models </a:t>
                      </a:r>
                      <a:r>
                        <a:rPr lang="it-IT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trained</a:t>
                      </a:r>
                      <a:r>
                        <a:rPr lang="it-IT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with </a:t>
                      </a:r>
                      <a:r>
                        <a:rPr lang="it-IT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SAW_frames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 u="none" strike="noStrike" dirty="0">
                          <a:effectLst/>
                        </a:rPr>
                        <a:t>Test made on </a:t>
                      </a:r>
                      <a:r>
                        <a:rPr lang="it-IT" sz="1400" b="1" u="none" strike="noStrike" dirty="0" err="1">
                          <a:effectLst/>
                        </a:rPr>
                        <a:t>SAW_frames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8396352"/>
                  </a:ext>
                </a:extLst>
              </a:tr>
              <a:tr h="44401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With </a:t>
                      </a:r>
                      <a:r>
                        <a:rPr lang="it-IT" sz="1400" b="1" u="none" strike="noStrike" dirty="0" err="1">
                          <a:effectLst/>
                        </a:rPr>
                        <a:t>Threshold</a:t>
                      </a:r>
                      <a:endParaRPr lang="it-IT" sz="1400" b="1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it-IT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</a:t>
                      </a:r>
                      <a:r>
                        <a:rPr lang="it-IT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VitPose</a:t>
                      </a:r>
                      <a:r>
                        <a:rPr lang="it-IT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++ 0.2 ; Yolo26xPose 0.3)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 err="1">
                          <a:effectLst/>
                        </a:rPr>
                        <a:t>Without</a:t>
                      </a:r>
                      <a:r>
                        <a:rPr lang="it-IT" sz="1400" b="1" u="none" strike="noStrike" dirty="0">
                          <a:effectLst/>
                        </a:rPr>
                        <a:t> </a:t>
                      </a:r>
                      <a:r>
                        <a:rPr lang="it-IT" sz="1400" b="1" u="none" strike="noStrike" dirty="0" err="1">
                          <a:effectLst/>
                        </a:rPr>
                        <a:t>Threshold</a:t>
                      </a:r>
                      <a:endParaRPr lang="it-IT" sz="1400" b="1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440461"/>
                  </a:ext>
                </a:extLst>
              </a:tr>
              <a:tr h="44401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AR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AP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AR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AP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672289"/>
                  </a:ext>
                </a:extLst>
              </a:tr>
              <a:tr h="426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dirty="0"/>
                        <a:t>YOLO26x-Pose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/>
                        <a:t>0.9849 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0.9774 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/>
                        <a:t>0.9907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0.9854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894928"/>
                  </a:ext>
                </a:extLst>
              </a:tr>
              <a:tr h="444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dirty="0" err="1"/>
                        <a:t>VitPose</a:t>
                      </a:r>
                      <a:r>
                        <a:rPr lang="it-IT" sz="1400" b="1" dirty="0"/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0.9936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0.9914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0.9940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/>
                        <a:t>0.9914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23880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792A76-D5CA-3215-C79D-FC8F4BF4FC6D}"/>
              </a:ext>
            </a:extLst>
          </p:cNvPr>
          <p:cNvSpPr txBox="1"/>
          <p:nvPr/>
        </p:nvSpPr>
        <p:spPr>
          <a:xfrm>
            <a:off x="467361" y="3598885"/>
            <a:ext cx="107797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train</a:t>
            </a:r>
            <a:r>
              <a:rPr lang="it-IT" dirty="0"/>
              <a:t> models, the </a:t>
            </a:r>
            <a:r>
              <a:rPr lang="it-IT" dirty="0" err="1"/>
              <a:t>typologies</a:t>
            </a:r>
            <a:r>
              <a:rPr lang="it-IT" dirty="0"/>
              <a:t> of </a:t>
            </a:r>
            <a:r>
              <a:rPr lang="it-IT" dirty="0" err="1"/>
              <a:t>elements</a:t>
            </a:r>
            <a:r>
              <a:rPr lang="it-IT" dirty="0"/>
              <a:t> </a:t>
            </a:r>
            <a:r>
              <a:rPr lang="it-IT" dirty="0" err="1"/>
              <a:t>composing</a:t>
            </a:r>
            <a:r>
              <a:rPr lang="it-IT" dirty="0"/>
              <a:t> </a:t>
            </a:r>
            <a:r>
              <a:rPr lang="it-IT" dirty="0" err="1"/>
              <a:t>SAW_frames</a:t>
            </a:r>
            <a:r>
              <a:rPr lang="it-IT" dirty="0"/>
              <a:t> dataset training </a:t>
            </a:r>
            <a:r>
              <a:rPr lang="it-IT" dirty="0" err="1"/>
              <a:t>improves</a:t>
            </a:r>
            <a:r>
              <a:rPr lang="it-IT" dirty="0"/>
              <a:t> the performances of </a:t>
            </a:r>
            <a:r>
              <a:rPr lang="it-IT" dirty="0" err="1"/>
              <a:t>both</a:t>
            </a:r>
            <a:r>
              <a:rPr lang="it-IT" dirty="0"/>
              <a:t> models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 with </a:t>
            </a:r>
            <a:r>
              <a:rPr lang="it-IT" dirty="0" err="1"/>
              <a:t>SAW_frame_EntireSwim</a:t>
            </a:r>
            <a:r>
              <a:rPr lang="it-IT" dirty="0"/>
              <a:t>. 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 err="1"/>
              <a:t>VitPose</a:t>
            </a:r>
            <a:r>
              <a:rPr lang="it-IT" dirty="0"/>
              <a:t>++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remain</a:t>
            </a:r>
            <a:r>
              <a:rPr lang="it-IT" dirty="0"/>
              <a:t> the </a:t>
            </a:r>
            <a:r>
              <a:rPr lang="it-IT" dirty="0" err="1"/>
              <a:t>better</a:t>
            </a:r>
            <a:r>
              <a:rPr lang="it-IT" dirty="0"/>
              <a:t> model,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and with 0.2 </a:t>
            </a:r>
            <a:r>
              <a:rPr lang="it-IT" dirty="0" err="1"/>
              <a:t>threshold</a:t>
            </a:r>
            <a:r>
              <a:rPr lang="it-IT" dirty="0"/>
              <a:t>, </a:t>
            </a:r>
            <a:r>
              <a:rPr lang="it-IT" dirty="0" err="1"/>
              <a:t>probably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</a:t>
            </a:r>
            <a:r>
              <a:rPr lang="it-IT" dirty="0" err="1"/>
              <a:t>almost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high scores.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The impact of </a:t>
            </a:r>
            <a:r>
              <a:rPr lang="it-IT" dirty="0" err="1"/>
              <a:t>thresholding</a:t>
            </a:r>
            <a:r>
              <a:rPr lang="it-IT" dirty="0"/>
              <a:t> settings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almost</a:t>
            </a:r>
            <a:r>
              <a:rPr lang="it-IT" dirty="0"/>
              <a:t> </a:t>
            </a:r>
            <a:r>
              <a:rPr lang="it-IT" dirty="0" err="1"/>
              <a:t>irrilevant</a:t>
            </a:r>
            <a:r>
              <a:rPr lang="it-IT" dirty="0"/>
              <a:t>: in the following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be </a:t>
            </a:r>
            <a:r>
              <a:rPr lang="it-IT" dirty="0" err="1"/>
              <a:t>left</a:t>
            </a:r>
            <a:r>
              <a:rPr lang="it-IT" dirty="0"/>
              <a:t> to the </a:t>
            </a:r>
            <a:r>
              <a:rPr lang="it-IT" dirty="0" err="1"/>
              <a:t>reference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model</a:t>
            </a:r>
          </a:p>
          <a:p>
            <a:pPr>
              <a:buNone/>
            </a:pPr>
            <a:endParaRPr lang="it-IT" dirty="0"/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FDAAC135-2FE4-8626-5263-B31782431976}"/>
              </a:ext>
            </a:extLst>
          </p:cNvPr>
          <p:cNvSpPr txBox="1">
            <a:spLocks/>
          </p:cNvSpPr>
          <p:nvPr/>
        </p:nvSpPr>
        <p:spPr>
          <a:xfrm>
            <a:off x="2535296" y="140478"/>
            <a:ext cx="7553584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Test results – Cross Test  (2/6) – Overall HPE</a:t>
            </a:r>
            <a:endParaRPr lang="it-IT" b="1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307F91AC-019B-7639-A36E-FC82A8A1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8869" y="6356350"/>
            <a:ext cx="6254262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4842575-DF96-E380-BE52-6E5BA233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16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215D1F9-4FED-479E-711B-2DD62158FFD7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4, 5, 6, 7, 10</a:t>
            </a:r>
          </a:p>
        </p:txBody>
      </p:sp>
    </p:spTree>
    <p:extLst>
      <p:ext uri="{BB962C8B-B14F-4D97-AF65-F5344CB8AC3E}">
        <p14:creationId xmlns:p14="http://schemas.microsoft.com/office/powerpoint/2010/main" val="2049113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846BEFF-F17B-AB5A-26D4-B6AC19070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550432"/>
              </p:ext>
            </p:extLst>
          </p:nvPr>
        </p:nvGraphicFramePr>
        <p:xfrm>
          <a:off x="447040" y="1621544"/>
          <a:ext cx="4744720" cy="4617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621">
                  <a:extLst>
                    <a:ext uri="{9D8B030D-6E8A-4147-A177-3AD203B41FA5}">
                      <a16:colId xmlns:a16="http://schemas.microsoft.com/office/drawing/2014/main" val="2830535352"/>
                    </a:ext>
                  </a:extLst>
                </a:gridCol>
                <a:gridCol w="1740681">
                  <a:extLst>
                    <a:ext uri="{9D8B030D-6E8A-4147-A177-3AD203B41FA5}">
                      <a16:colId xmlns:a16="http://schemas.microsoft.com/office/drawing/2014/main" val="2588161903"/>
                    </a:ext>
                  </a:extLst>
                </a:gridCol>
                <a:gridCol w="1723418">
                  <a:extLst>
                    <a:ext uri="{9D8B030D-6E8A-4147-A177-3AD203B41FA5}">
                      <a16:colId xmlns:a16="http://schemas.microsoft.com/office/drawing/2014/main" val="2898176712"/>
                    </a:ext>
                  </a:extLst>
                </a:gridCol>
              </a:tblGrid>
              <a:tr h="1642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KP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 u="none" strike="noStrike" dirty="0">
                          <a:effectLst/>
                        </a:rPr>
                        <a:t>YOLO26x-Pose</a:t>
                      </a:r>
                      <a:br>
                        <a:rPr lang="it-IT" sz="1400" b="1" u="none" strike="noStrike" dirty="0">
                          <a:effectLst/>
                        </a:rPr>
                      </a:br>
                      <a:r>
                        <a:rPr lang="it-IT" sz="1400" b="1" dirty="0" err="1"/>
                        <a:t>mean</a:t>
                      </a:r>
                      <a:r>
                        <a:rPr lang="it-IT" sz="1400" b="1" dirty="0"/>
                        <a:t> / </a:t>
                      </a:r>
                      <a:r>
                        <a:rPr lang="it-IT" sz="1400" b="1" dirty="0" err="1"/>
                        <a:t>median</a:t>
                      </a:r>
                      <a:r>
                        <a:rPr lang="it-IT" sz="1400" b="1" dirty="0"/>
                        <a:t> / P90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1" u="none" strike="noStrike" dirty="0" err="1">
                          <a:effectLst/>
                        </a:rPr>
                        <a:t>VitPose</a:t>
                      </a:r>
                      <a:r>
                        <a:rPr lang="it-IT" sz="1400" b="1" u="none" strike="noStrike" dirty="0">
                          <a:effectLst/>
                        </a:rPr>
                        <a:t>++</a:t>
                      </a:r>
                      <a:br>
                        <a:rPr lang="it-IT" sz="1400" b="1" u="none" strike="noStrike" dirty="0">
                          <a:effectLst/>
                        </a:rPr>
                      </a:br>
                      <a:r>
                        <a:rPr lang="it-IT" sz="1400" b="1" dirty="0" err="1"/>
                        <a:t>mean</a:t>
                      </a:r>
                      <a:r>
                        <a:rPr lang="it-IT" sz="1400" b="1" dirty="0"/>
                        <a:t> / </a:t>
                      </a:r>
                      <a:r>
                        <a:rPr lang="it-IT" sz="1400" b="1" dirty="0" err="1"/>
                        <a:t>median</a:t>
                      </a:r>
                      <a:r>
                        <a:rPr lang="it-IT" sz="1400" b="1" dirty="0"/>
                        <a:t> / P90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722859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nose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3.29 / 2.93 / 5.83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0" u="none" strike="noStrike" dirty="0">
                          <a:effectLst/>
                        </a:rPr>
                        <a:t>3.37 / 2.95 / 6.24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284055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left_eye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2.82 / 2.45 / 5.15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2.75 / 2.33 / 4.94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638002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right_eye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2.59 / 2.28 / 4.70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2.48 / 2.17 / 4.62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741775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left_ear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3.28 / 2.89 / 6.11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3.30 / 2.91 / 5.86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759666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right_ear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2.33 / 2.02 / 4.18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2.14 / 1.88 / 3.84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888024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left_shoulder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2.99 / 2.56 / 5.57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3.13 / 2.61 / 6.01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830542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right_shoulder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3.32 / 2.78 / 6.30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3.22 / 2.77 / 6.14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799561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left_elbow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5.93 / 4.97 / 11.05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4.55 / 3.41 / 9.08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332654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right_elbow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5.51 / 4.32 / 10.64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3.91 / 2.74 / 7.15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68774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left_wrist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>
                          <a:effectLst/>
                        </a:rPr>
                        <a:t>7.96 / 6.58 / 14.96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5.04 / 3.69 / 10.40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918206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right_wrist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7.03 / 5.83 / 13.09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4.98 / 3.78 / 9.52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726611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left_hip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3.00 / 2.49 / 5.78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2.99 / 2.58 / 5.64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12336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right_hip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2.60 / 2.27 / 4.63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2.60 / 2.20 / 5.03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792175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left_knee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4.31 / 3.86 / 7.68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3.12 / 2.56 / 5.91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850405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right_knee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3.76 / 3.34 / 6.68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3.02 / 2.41 / 6.11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77238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left_ankle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6.84 / 5.98 / 12.61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4.06 / 3.32 / 7.78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922492"/>
                  </a:ext>
                </a:extLst>
              </a:tr>
              <a:tr h="246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 err="1">
                          <a:effectLst/>
                        </a:rPr>
                        <a:t>right_ankle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u="none" strike="noStrike" dirty="0">
                          <a:effectLst/>
                        </a:rPr>
                        <a:t>6.57 / 5.73 / 11.70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b="1" u="none" strike="noStrike" dirty="0">
                          <a:effectLst/>
                        </a:rPr>
                        <a:t>4.08 / 3.21 / 8.01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421" marR="3421" marT="34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352363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88659D-DAA7-5916-FAA5-5A2210B5024D}"/>
              </a:ext>
            </a:extLst>
          </p:cNvPr>
          <p:cNvSpPr txBox="1"/>
          <p:nvPr/>
        </p:nvSpPr>
        <p:spPr>
          <a:xfrm>
            <a:off x="2574196" y="912086"/>
            <a:ext cx="704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Train </a:t>
            </a:r>
            <a:r>
              <a:rPr lang="en-US" b="1" dirty="0" err="1"/>
              <a:t>SAW_frames</a:t>
            </a:r>
            <a:r>
              <a:rPr lang="en-US" b="1" dirty="0"/>
              <a:t> → Test </a:t>
            </a:r>
            <a:r>
              <a:rPr lang="en-US" b="1" dirty="0" err="1"/>
              <a:t>SAW_frames_EntireSwim</a:t>
            </a:r>
            <a:r>
              <a:rPr lang="en-US" b="1" dirty="0"/>
              <a:t> (</a:t>
            </a:r>
            <a:r>
              <a:rPr lang="en-US" b="1" dirty="0" err="1"/>
              <a:t>thresholded</a:t>
            </a:r>
            <a:r>
              <a:rPr lang="en-US" b="1" dirty="0"/>
              <a:t>)</a:t>
            </a:r>
            <a:endParaRPr lang="it-IT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E5107B-BC3D-D5FB-A938-676397831394}"/>
              </a:ext>
            </a:extLst>
          </p:cNvPr>
          <p:cNvSpPr txBox="1"/>
          <p:nvPr/>
        </p:nvSpPr>
        <p:spPr>
          <a:xfrm>
            <a:off x="5476240" y="2766453"/>
            <a:ext cx="67157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++ demonstrates </a:t>
            </a: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- better performances in 13/17 KP</a:t>
            </a: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- significantly less errors in the most difficult KP: distal / joint </a:t>
            </a:r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keypoints</a:t>
            </a:r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When Yolo26x-Pose gets better results, the gap is very light</a:t>
            </a:r>
            <a:endParaRPr lang="en-US" sz="1400" b="1" dirty="0">
              <a:solidFill>
                <a:prstClr val="black"/>
              </a:solidFill>
              <a:latin typeface="System"/>
            </a:endParaRP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54CEB72-6AEB-58CA-F483-E1A93C7F6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08234"/>
              </p:ext>
            </p:extLst>
          </p:nvPr>
        </p:nvGraphicFramePr>
        <p:xfrm>
          <a:off x="6312088" y="3674720"/>
          <a:ext cx="2794000" cy="18785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1196530845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989231254"/>
                    </a:ext>
                  </a:extLst>
                </a:gridCol>
              </a:tblGrid>
              <a:tr h="469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1" u="none" strike="noStrike" dirty="0">
                          <a:effectLst/>
                        </a:rPr>
                        <a:t>Area</a:t>
                      </a:r>
                      <a:endParaRPr lang="it-I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100" b="1" u="none" strike="noStrike" dirty="0" err="1">
                          <a:effectLst/>
                        </a:rPr>
                        <a:t>VitPose</a:t>
                      </a:r>
                      <a:r>
                        <a:rPr lang="it-IT" sz="1100" b="1" u="none" strike="noStrike" dirty="0">
                          <a:effectLst/>
                        </a:rPr>
                        <a:t>++ </a:t>
                      </a:r>
                      <a:r>
                        <a:rPr lang="it-IT" sz="1100" b="1" u="none" strike="noStrike" dirty="0" err="1">
                          <a:effectLst/>
                        </a:rPr>
                        <a:t>advantage</a:t>
                      </a:r>
                      <a:endParaRPr lang="it-IT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45139358"/>
                  </a:ext>
                </a:extLst>
              </a:tr>
              <a:tr h="35222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it-IT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Wrists</a:t>
                      </a:r>
                      <a:endParaRPr lang="it-IT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Strong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58390700"/>
                  </a:ext>
                </a:extLst>
              </a:tr>
              <a:tr h="35222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it-IT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Elbows</a:t>
                      </a:r>
                      <a:endParaRPr lang="it-IT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Strong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6053781"/>
                  </a:ext>
                </a:extLst>
              </a:tr>
              <a:tr h="35222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it-IT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Knees</a:t>
                      </a:r>
                      <a:endParaRPr lang="it-IT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80036849"/>
                  </a:ext>
                </a:extLst>
              </a:tr>
              <a:tr h="35222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it-IT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Ankles</a:t>
                      </a:r>
                      <a:endParaRPr lang="it-IT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Strong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967792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9C3162B-CE78-20BF-56DD-BDDFE692A464}"/>
              </a:ext>
            </a:extLst>
          </p:cNvPr>
          <p:cNvSpPr txBox="1"/>
          <p:nvPr/>
        </p:nvSpPr>
        <p:spPr>
          <a:xfrm>
            <a:off x="5476240" y="1621544"/>
            <a:ext cx="6400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Mean	Helps to </a:t>
            </a:r>
            <a:r>
              <a:rPr lang="it-IT" sz="1400" dirty="0" err="1"/>
              <a:t>detect</a:t>
            </a:r>
            <a:r>
              <a:rPr lang="it-IT" sz="1400" dirty="0"/>
              <a:t> </a:t>
            </a:r>
            <a:r>
              <a:rPr lang="it-IT" sz="1400" dirty="0" err="1"/>
              <a:t>outlier</a:t>
            </a:r>
            <a:r>
              <a:rPr lang="it-IT" sz="1400" dirty="0"/>
              <a:t> and </a:t>
            </a:r>
            <a:r>
              <a:rPr lang="it-IT" sz="1400" dirty="0" err="1"/>
              <a:t>eventually</a:t>
            </a:r>
            <a:r>
              <a:rPr lang="it-IT" sz="1400" dirty="0"/>
              <a:t> </a:t>
            </a:r>
            <a:r>
              <a:rPr lang="it-IT" sz="1400" dirty="0" err="1"/>
              <a:t>instable</a:t>
            </a:r>
            <a:r>
              <a:rPr lang="it-IT" sz="1400" dirty="0"/>
              <a:t> KP </a:t>
            </a:r>
          </a:p>
          <a:p>
            <a:r>
              <a:rPr lang="it-IT" sz="1400" dirty="0"/>
              <a:t>Median	</a:t>
            </a:r>
            <a:r>
              <a:rPr lang="it-IT" sz="1400" dirty="0" err="1"/>
              <a:t>Represents</a:t>
            </a:r>
            <a:r>
              <a:rPr lang="it-IT" sz="1400" dirty="0"/>
              <a:t> the </a:t>
            </a:r>
            <a:r>
              <a:rPr lang="it-IT" sz="1400" dirty="0" err="1"/>
              <a:t>typical</a:t>
            </a:r>
            <a:r>
              <a:rPr lang="it-IT" sz="1400" dirty="0"/>
              <a:t> </a:t>
            </a:r>
            <a:r>
              <a:rPr lang="it-IT" sz="1400" dirty="0" err="1"/>
              <a:t>error</a:t>
            </a:r>
            <a:endParaRPr lang="it-IT" sz="1400" dirty="0"/>
          </a:p>
          <a:p>
            <a:r>
              <a:rPr lang="it-IT" sz="1400" dirty="0"/>
              <a:t>P90	</a:t>
            </a:r>
            <a:r>
              <a:rPr lang="it-IT" sz="1400" dirty="0" err="1"/>
              <a:t>Represents</a:t>
            </a:r>
            <a:r>
              <a:rPr lang="it-IT" sz="1400" dirty="0"/>
              <a:t> the </a:t>
            </a:r>
            <a:r>
              <a:rPr lang="it-IT" sz="1400" dirty="0" err="1"/>
              <a:t>error</a:t>
            </a:r>
            <a:r>
              <a:rPr lang="it-IT" sz="1400" dirty="0"/>
              <a:t> </a:t>
            </a:r>
            <a:r>
              <a:rPr lang="it-IT" sz="1400" dirty="0" err="1"/>
              <a:t>distibution</a:t>
            </a:r>
            <a:r>
              <a:rPr lang="it-IT" sz="1400" dirty="0"/>
              <a:t> </a:t>
            </a:r>
            <a:r>
              <a:rPr lang="it-IT" sz="1400" dirty="0" err="1"/>
              <a:t>tail</a:t>
            </a:r>
            <a:r>
              <a:rPr lang="it-IT" sz="1400" dirty="0"/>
              <a:t>, to </a:t>
            </a:r>
            <a:r>
              <a:rPr lang="it-IT" sz="1400" dirty="0" err="1"/>
              <a:t>evaluate</a:t>
            </a:r>
            <a:r>
              <a:rPr lang="it-IT" sz="1400" dirty="0"/>
              <a:t> the </a:t>
            </a:r>
            <a:r>
              <a:rPr lang="it-IT" sz="1400" dirty="0" err="1"/>
              <a:t>most</a:t>
            </a:r>
            <a:r>
              <a:rPr lang="it-IT" sz="1400" dirty="0"/>
              <a:t> </a:t>
            </a:r>
            <a:r>
              <a:rPr lang="it-IT" sz="1400" dirty="0" err="1"/>
              <a:t>difficult</a:t>
            </a:r>
            <a:r>
              <a:rPr lang="it-IT" sz="1400" dirty="0"/>
              <a:t> </a:t>
            </a:r>
            <a:r>
              <a:rPr lang="it-IT" sz="1400" dirty="0" err="1"/>
              <a:t>KPs</a:t>
            </a:r>
            <a:endParaRPr lang="it-IT" sz="1400" dirty="0"/>
          </a:p>
        </p:txBody>
      </p:sp>
      <p:sp>
        <p:nvSpPr>
          <p:cNvPr id="15" name="Sottotitolo 2">
            <a:extLst>
              <a:ext uri="{FF2B5EF4-FFF2-40B4-BE49-F238E27FC236}">
                <a16:creationId xmlns:a16="http://schemas.microsoft.com/office/drawing/2014/main" id="{AE472324-A019-4601-2AE4-F5DB2AA7D954}"/>
              </a:ext>
            </a:extLst>
          </p:cNvPr>
          <p:cNvSpPr txBox="1">
            <a:spLocks/>
          </p:cNvSpPr>
          <p:nvPr/>
        </p:nvSpPr>
        <p:spPr>
          <a:xfrm>
            <a:off x="2535296" y="140478"/>
            <a:ext cx="7553584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Test results – Cross Test  (3/6) – Single KPs</a:t>
            </a:r>
            <a:endParaRPr lang="it-IT" b="1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30A4B25-E887-00EE-FF11-C6A68AD3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4196" y="6356350"/>
            <a:ext cx="7043608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52658D-158E-8A68-42AA-1D84B448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17</a:t>
            </a:fld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2F1B8A5-9D72-1052-298E-FEBAA77E84C1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4, 8, 9, 10</a:t>
            </a:r>
          </a:p>
        </p:txBody>
      </p:sp>
    </p:spTree>
    <p:extLst>
      <p:ext uri="{BB962C8B-B14F-4D97-AF65-F5344CB8AC3E}">
        <p14:creationId xmlns:p14="http://schemas.microsoft.com/office/powerpoint/2010/main" val="1507487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88659D-DAA7-5916-FAA5-5A2210B5024D}"/>
              </a:ext>
            </a:extLst>
          </p:cNvPr>
          <p:cNvSpPr txBox="1"/>
          <p:nvPr/>
        </p:nvSpPr>
        <p:spPr>
          <a:xfrm>
            <a:off x="1137920" y="668246"/>
            <a:ext cx="991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Train </a:t>
            </a:r>
            <a:r>
              <a:rPr lang="en-US" b="1" dirty="0" err="1"/>
              <a:t>SAW_frames</a:t>
            </a:r>
            <a:r>
              <a:rPr lang="en-US" b="1" dirty="0"/>
              <a:t> → Test </a:t>
            </a:r>
            <a:r>
              <a:rPr lang="en-US" b="1" dirty="0" err="1"/>
              <a:t>SAW_frames_EntireSwim</a:t>
            </a:r>
            <a:r>
              <a:rPr lang="en-US" b="1" dirty="0"/>
              <a:t> (</a:t>
            </a:r>
            <a:r>
              <a:rPr lang="en-US" b="1" dirty="0" err="1"/>
              <a:t>thresholded</a:t>
            </a:r>
            <a:r>
              <a:rPr lang="en-US" b="1" dirty="0"/>
              <a:t>)</a:t>
            </a:r>
          </a:p>
          <a:p>
            <a:pPr algn="ctr"/>
            <a:r>
              <a:rPr lang="en-US" b="1" dirty="0"/>
              <a:t>vs</a:t>
            </a:r>
            <a:br>
              <a:rPr lang="en-US" b="1" dirty="0"/>
            </a:br>
            <a:r>
              <a:rPr lang="en-US" b="1" dirty="0"/>
              <a:t>Train </a:t>
            </a:r>
            <a:r>
              <a:rPr lang="en-US" b="1" dirty="0" err="1"/>
              <a:t>SAW_frames_EntireSwim</a:t>
            </a:r>
            <a:r>
              <a:rPr lang="en-US" b="1" dirty="0"/>
              <a:t> → Test </a:t>
            </a:r>
            <a:r>
              <a:rPr lang="en-US" b="1" dirty="0" err="1"/>
              <a:t>SAW_frames_EntireSwim</a:t>
            </a:r>
            <a:r>
              <a:rPr lang="en-US" b="1" dirty="0"/>
              <a:t> (</a:t>
            </a:r>
            <a:r>
              <a:rPr lang="en-US" b="1" dirty="0" err="1"/>
              <a:t>thresholded</a:t>
            </a:r>
            <a:r>
              <a:rPr lang="en-US" b="1" dirty="0"/>
              <a:t>)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A210452-1C9E-3161-8000-8CF87F238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95718"/>
              </p:ext>
            </p:extLst>
          </p:nvPr>
        </p:nvGraphicFramePr>
        <p:xfrm>
          <a:off x="493170" y="2175542"/>
          <a:ext cx="2686910" cy="4351330"/>
        </p:xfrm>
        <a:graphic>
          <a:graphicData uri="http://schemas.openxmlformats.org/drawingml/2006/table">
            <a:tbl>
              <a:tblPr/>
              <a:tblGrid>
                <a:gridCol w="624430">
                  <a:extLst>
                    <a:ext uri="{9D8B030D-6E8A-4147-A177-3AD203B41FA5}">
                      <a16:colId xmlns:a16="http://schemas.microsoft.com/office/drawing/2014/main" val="637701412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916258182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306992387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947978275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1416411798"/>
                    </a:ext>
                  </a:extLst>
                </a:gridCol>
              </a:tblGrid>
              <a:tr h="352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 </a:t>
                      </a:r>
                      <a:r>
                        <a:rPr lang="it-IT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direct</a:t>
                      </a: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→ cross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Δ </a:t>
                      </a:r>
                      <a:r>
                        <a:rPr lang="it-IT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</a:t>
                      </a:r>
                      <a:endParaRPr lang="it-IT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Δ </a:t>
                      </a:r>
                      <a:r>
                        <a:rPr lang="it-IT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median</a:t>
                      </a:r>
                      <a:endParaRPr lang="it-IT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Δ P90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02001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right_elbow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7.055 → 5.512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−1.543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−1.392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−3.271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6314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right_wrist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8.445 → 7.032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−1.413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−1.231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−2.657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15196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left_elbow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6.924 → 5.927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−0.996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−0.956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−2.335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846653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right_hip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3.520 → 2.595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−0.924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−0.789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−1.495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2323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right_shoulder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4.129 → 3.325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−0.805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−0.602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−1.370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9291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left_shoulder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3.793 → 2.993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−0.799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−0.635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−1.525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56584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left_ear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4.058 → 3.277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−0.781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−0.674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−1.284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53040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right_knee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4.293 → 3.762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−0.532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−0.498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−0.868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92183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left_wrist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8.396 → 7.962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−0.433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−0.651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−0.514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4916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left_knee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4.661 → 4.308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−0.353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−0.377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−0.354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1737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left_eye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3.160 → 2.818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−0.342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−0.356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−0.767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1586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right_ear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2.639 → 2.333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−0.306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−0.277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−0.676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07077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left_hip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3.299 → 3.000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−0.299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−0.411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−0.277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44055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right_ankle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6.851 → 6.565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−0.285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−0.465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−0.462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0535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nose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3.530 → 3.287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−0.243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−0.045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−0.658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1227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left_ankle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7.044 → 6.839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−0.205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−0.178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−0.189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26065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right_eye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2.715 → 2.592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−0.123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−0.124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−0.288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37914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E2B206C6-832A-9CF3-032D-2D3F1953849A}"/>
              </a:ext>
            </a:extLst>
          </p:cNvPr>
          <p:cNvSpPr txBox="1"/>
          <p:nvPr/>
        </p:nvSpPr>
        <p:spPr>
          <a:xfrm>
            <a:off x="493170" y="1698893"/>
            <a:ext cx="2686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Yolo26x-Pose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6444987-66B6-96AF-532F-E34962FCD1FA}"/>
              </a:ext>
            </a:extLst>
          </p:cNvPr>
          <p:cNvSpPr txBox="1"/>
          <p:nvPr/>
        </p:nvSpPr>
        <p:spPr>
          <a:xfrm>
            <a:off x="8736221" y="1698893"/>
            <a:ext cx="2818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VitPose</a:t>
            </a:r>
            <a:r>
              <a:rPr lang="en-US" b="1" dirty="0"/>
              <a:t>++</a:t>
            </a: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E3E7A783-C4E6-20C5-C5E1-B177EB03D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9989"/>
              </p:ext>
            </p:extLst>
          </p:nvPr>
        </p:nvGraphicFramePr>
        <p:xfrm>
          <a:off x="8736221" y="2176844"/>
          <a:ext cx="2818090" cy="435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720">
                  <a:extLst>
                    <a:ext uri="{9D8B030D-6E8A-4147-A177-3AD203B41FA5}">
                      <a16:colId xmlns:a16="http://schemas.microsoft.com/office/drawing/2014/main" val="2481713180"/>
                    </a:ext>
                  </a:extLst>
                </a:gridCol>
                <a:gridCol w="688149">
                  <a:extLst>
                    <a:ext uri="{9D8B030D-6E8A-4147-A177-3AD203B41FA5}">
                      <a16:colId xmlns:a16="http://schemas.microsoft.com/office/drawing/2014/main" val="3351975523"/>
                    </a:ext>
                  </a:extLst>
                </a:gridCol>
                <a:gridCol w="468865">
                  <a:extLst>
                    <a:ext uri="{9D8B030D-6E8A-4147-A177-3AD203B41FA5}">
                      <a16:colId xmlns:a16="http://schemas.microsoft.com/office/drawing/2014/main" val="1586341370"/>
                    </a:ext>
                  </a:extLst>
                </a:gridCol>
                <a:gridCol w="554114">
                  <a:extLst>
                    <a:ext uri="{9D8B030D-6E8A-4147-A177-3AD203B41FA5}">
                      <a16:colId xmlns:a16="http://schemas.microsoft.com/office/drawing/2014/main" val="3718957389"/>
                    </a:ext>
                  </a:extLst>
                </a:gridCol>
                <a:gridCol w="426242">
                  <a:extLst>
                    <a:ext uri="{9D8B030D-6E8A-4147-A177-3AD203B41FA5}">
                      <a16:colId xmlns:a16="http://schemas.microsoft.com/office/drawing/2014/main" val="1456093321"/>
                    </a:ext>
                  </a:extLst>
                </a:gridCol>
              </a:tblGrid>
              <a:tr h="3528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KP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Mean </a:t>
                      </a:r>
                      <a:r>
                        <a:rPr lang="it-IT" sz="7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direct</a:t>
                      </a: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→ cross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Δ </a:t>
                      </a:r>
                      <a:r>
                        <a:rPr lang="it-IT" sz="7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mean</a:t>
                      </a:r>
                      <a:endParaRPr lang="it-IT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Δ </a:t>
                      </a:r>
                      <a:r>
                        <a:rPr lang="it-IT" sz="7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median</a:t>
                      </a:r>
                      <a:endParaRPr lang="it-IT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Δ P90</a:t>
                      </a: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36297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right_elbow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5.507 → 3.908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−1.599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−1.635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−3.297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3465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right_ear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3.454 → 2.135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−1.319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−1.155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−2.278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4896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left_wrist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6.284 → 5.044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−1.240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−1.323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−2.055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7672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left_ear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4.515 → 3.295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−1.219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−1.098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−2.093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8314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left_eye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3.893 → 2.751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−1.142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−0.988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−2.203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29890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right_wrist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6.113 → 4.982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−1.131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−1.105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−2.564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9585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left_shoulder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4.175 → 3.132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−1.043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−0.873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−1.831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07843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right_shoulder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4.249 → 3.225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−1.024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−0.895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−1.854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6159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right_knee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3.995 → 3.017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−0.978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−0.995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−1.260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93418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right_eye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3.430 → 2.482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−0.948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−0.756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−1.735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633147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nose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4.300 → 3.369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−0.931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−0.695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−1.636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48542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right_ankle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4.965 → 4.080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−0.885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−1.092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−1.107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499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left_ankle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4.941 → 4.056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>
                          <a:effectLst/>
                        </a:rPr>
                        <a:t>−0.884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b="0" u="none" strike="noStrike" dirty="0">
                          <a:effectLst/>
                        </a:rPr>
                        <a:t>−0.856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−1.359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88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left_knee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3.900 → 3.120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−0.780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−0.828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−1.331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03104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left_elbow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5.295 → 4.551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−0.744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−1.006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−0.886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609639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right_hip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3.028 → 2.604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−0.424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−0.451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−0.462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49993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left_hip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3.210 → 2.992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−0.218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>
                          <a:effectLst/>
                        </a:rPr>
                        <a:t>−0.179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−0.400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00" marR="4900" marT="49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263172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E554812-A058-E658-E978-CB764790623E}"/>
              </a:ext>
            </a:extLst>
          </p:cNvPr>
          <p:cNvSpPr txBox="1"/>
          <p:nvPr/>
        </p:nvSpPr>
        <p:spPr>
          <a:xfrm>
            <a:off x="3455780" y="2175542"/>
            <a:ext cx="5068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Using </a:t>
            </a:r>
            <a:r>
              <a:rPr lang="it-IT" dirty="0" err="1"/>
              <a:t>SAW_frames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training dataset leads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on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KPs</a:t>
            </a:r>
            <a:r>
              <a:rPr lang="it-IT" dirty="0"/>
              <a:t>: </a:t>
            </a:r>
            <a:r>
              <a:rPr lang="it-IT" dirty="0" err="1"/>
              <a:t>all</a:t>
            </a:r>
            <a:r>
              <a:rPr lang="it-IT" dirty="0"/>
              <a:t> the Δ </a:t>
            </a:r>
            <a:r>
              <a:rPr lang="it-IT" dirty="0" err="1"/>
              <a:t>values</a:t>
            </a:r>
            <a:r>
              <a:rPr lang="it-IT" dirty="0"/>
              <a:t> are negative.</a:t>
            </a:r>
          </a:p>
          <a:p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clear for </a:t>
            </a:r>
            <a:r>
              <a:rPr lang="it-IT" dirty="0" err="1"/>
              <a:t>both</a:t>
            </a:r>
            <a:r>
              <a:rPr lang="it-IT" dirty="0"/>
              <a:t> the models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 on </a:t>
            </a:r>
            <a:r>
              <a:rPr lang="it-IT" dirty="0" err="1"/>
              <a:t>SAW_frames_EntireSwim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can be </a:t>
            </a:r>
            <a:r>
              <a:rPr lang="it-IT" dirty="0" err="1"/>
              <a:t>explained</a:t>
            </a:r>
            <a:r>
              <a:rPr lang="it-IT" dirty="0"/>
              <a:t> by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greater</a:t>
            </a:r>
            <a:r>
              <a:rPr lang="it-IT" dirty="0"/>
              <a:t> </a:t>
            </a:r>
            <a:r>
              <a:rPr lang="it-IT" dirty="0" err="1"/>
              <a:t>richness</a:t>
            </a:r>
            <a:r>
              <a:rPr lang="it-IT" dirty="0"/>
              <a:t> and </a:t>
            </a:r>
            <a:r>
              <a:rPr lang="it-IT" dirty="0" err="1"/>
              <a:t>variety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help the models to </a:t>
            </a: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KPs</a:t>
            </a:r>
            <a:r>
              <a:rPr lang="it-IT" dirty="0"/>
              <a:t> for frames of </a:t>
            </a:r>
            <a:r>
              <a:rPr lang="it-IT" dirty="0" err="1"/>
              <a:t>SAW_frames_EntireSwim</a:t>
            </a:r>
            <a:r>
              <a:rPr lang="it-IT" dirty="0"/>
              <a:t> dataset.</a:t>
            </a:r>
          </a:p>
        </p:txBody>
      </p:sp>
      <p:sp>
        <p:nvSpPr>
          <p:cNvPr id="18" name="Sottotitolo 2">
            <a:extLst>
              <a:ext uri="{FF2B5EF4-FFF2-40B4-BE49-F238E27FC236}">
                <a16:creationId xmlns:a16="http://schemas.microsoft.com/office/drawing/2014/main" id="{58841713-3982-3F88-4BB6-1DCB504DC235}"/>
              </a:ext>
            </a:extLst>
          </p:cNvPr>
          <p:cNvSpPr txBox="1">
            <a:spLocks/>
          </p:cNvSpPr>
          <p:nvPr/>
        </p:nvSpPr>
        <p:spPr>
          <a:xfrm>
            <a:off x="2535296" y="140478"/>
            <a:ext cx="7553584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Test results – Cross Test  (4/6) – Single KPs</a:t>
            </a:r>
            <a:endParaRPr lang="it-IT" b="1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6680C71D-7E69-3789-9431-25DDEB7E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2140" y="6356350"/>
            <a:ext cx="612772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67CBD7-DF4B-B154-E3E2-DDBEEFA1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18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A5297D8-74B1-97FE-7B8F-034756200018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5, 6, 9, 10</a:t>
            </a:r>
          </a:p>
        </p:txBody>
      </p:sp>
    </p:spTree>
    <p:extLst>
      <p:ext uri="{BB962C8B-B14F-4D97-AF65-F5344CB8AC3E}">
        <p14:creationId xmlns:p14="http://schemas.microsoft.com/office/powerpoint/2010/main" val="1015203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88659D-DAA7-5916-FAA5-5A2210B5024D}"/>
              </a:ext>
            </a:extLst>
          </p:cNvPr>
          <p:cNvSpPr txBox="1"/>
          <p:nvPr/>
        </p:nvSpPr>
        <p:spPr>
          <a:xfrm>
            <a:off x="1137920" y="668246"/>
            <a:ext cx="991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Train </a:t>
            </a:r>
            <a:r>
              <a:rPr lang="en-US" b="1" dirty="0" err="1"/>
              <a:t>SAW_frames</a:t>
            </a:r>
            <a:r>
              <a:rPr lang="en-US" b="1" dirty="0"/>
              <a:t> → Test </a:t>
            </a:r>
            <a:r>
              <a:rPr lang="en-US" b="1" dirty="0" err="1"/>
              <a:t>SAW_frames_EntireSwim</a:t>
            </a:r>
            <a:r>
              <a:rPr lang="en-US" b="1" dirty="0"/>
              <a:t> (</a:t>
            </a:r>
            <a:r>
              <a:rPr lang="en-US" b="1" dirty="0" err="1"/>
              <a:t>thresholded</a:t>
            </a:r>
            <a:r>
              <a:rPr lang="en-US" b="1" dirty="0"/>
              <a:t>)</a:t>
            </a:r>
          </a:p>
          <a:p>
            <a:pPr algn="ctr"/>
            <a:br>
              <a:rPr lang="en-US" b="1" dirty="0"/>
            </a:br>
            <a:r>
              <a:rPr lang="en-US" b="1" dirty="0"/>
              <a:t>Comparison of KPs detection difficulty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A29982E-D2F0-E811-EBD6-41FA384FC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713551"/>
              </p:ext>
            </p:extLst>
          </p:nvPr>
        </p:nvGraphicFramePr>
        <p:xfrm>
          <a:off x="554990" y="1873885"/>
          <a:ext cx="2752090" cy="4679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5610">
                  <a:extLst>
                    <a:ext uri="{9D8B030D-6E8A-4147-A177-3AD203B41FA5}">
                      <a16:colId xmlns:a16="http://schemas.microsoft.com/office/drawing/2014/main" val="2915630460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61229395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569193636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3326530092"/>
                    </a:ext>
                  </a:extLst>
                </a:gridCol>
              </a:tblGrid>
              <a:tr h="399399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</a:t>
                      </a:r>
                      <a:endParaRPr lang="it-IT" sz="7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KP</a:t>
                      </a:r>
                      <a:endParaRPr lang="it-IT" sz="7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Combined</a:t>
                      </a:r>
                      <a:r>
                        <a:rPr lang="it-IT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it-IT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distributions</a:t>
                      </a:r>
                      <a:r>
                        <a:rPr lang="it-IT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over models P90 px ↑</a:t>
                      </a:r>
                      <a:endParaRPr lang="it-IT" sz="7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Classification</a:t>
                      </a:r>
                      <a:endParaRPr lang="it-IT" sz="7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372168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48332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right_eye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16467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right_hip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48762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left_eye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275955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left_hip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390513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left_shoulder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120639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left_ear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472516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586326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right_shoulder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18273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right_knee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05968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left_knee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73533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right_elbow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9.332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67244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left_elbow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445437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right_ankle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138925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left_ankle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957321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right_wrist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11.646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995563"/>
                  </a:ext>
                </a:extLst>
              </a:tr>
              <a:tr h="251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left_wrist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13.539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Challenging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650870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DEBDFFA-98B2-54C0-DBCB-C8EB749E400B}"/>
              </a:ext>
            </a:extLst>
          </p:cNvPr>
          <p:cNvSpPr txBox="1"/>
          <p:nvPr/>
        </p:nvSpPr>
        <p:spPr>
          <a:xfrm>
            <a:off x="3517900" y="1873885"/>
            <a:ext cx="83693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combined P90 metric is calculated joining the P90 distributions for both the models.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classification is produced with thresholds of 6, 9,12.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symbol </a:t>
            </a:r>
            <a:r>
              <a:rPr lang="it-IT" sz="800" dirty="0"/>
              <a:t>●  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indicates the KPs of the head.</a:t>
            </a: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Their classification leads to note they’re quite easy to find (the max P90 value is ranging a half of the first “High” KP).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Possible reasons are: 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belonging to an almost rigid structure, so model can exploit strong local constraints among them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concentration in a small region of the swimmer shape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very little relative movement one to another and few degrees of freedom (much fewer than distal joints)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b="1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b="1" dirty="0">
              <a:solidFill>
                <a:prstClr val="black"/>
              </a:solidFill>
              <a:latin typeface="System"/>
            </a:endParaRPr>
          </a:p>
        </p:txBody>
      </p:sp>
      <p:sp>
        <p:nvSpPr>
          <p:cNvPr id="17" name="Sottotitolo 2">
            <a:extLst>
              <a:ext uri="{FF2B5EF4-FFF2-40B4-BE49-F238E27FC236}">
                <a16:creationId xmlns:a16="http://schemas.microsoft.com/office/drawing/2014/main" id="{823D75A3-47BA-2508-5378-53554810D834}"/>
              </a:ext>
            </a:extLst>
          </p:cNvPr>
          <p:cNvSpPr txBox="1">
            <a:spLocks/>
          </p:cNvSpPr>
          <p:nvPr/>
        </p:nvSpPr>
        <p:spPr>
          <a:xfrm>
            <a:off x="2535296" y="140478"/>
            <a:ext cx="7553584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Test results – Cross Test  (5/6) – Single KPs</a:t>
            </a:r>
            <a:endParaRPr lang="it-IT" b="1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9F059B6D-5C33-F763-6F8D-1D922E46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3700" y="6356350"/>
            <a:ext cx="6324600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3A22559-122D-F16C-6AFA-1312EAEB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19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534D698-3872-271D-1254-D9306D9BA46B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4, 8, 10</a:t>
            </a:r>
          </a:p>
        </p:txBody>
      </p:sp>
    </p:spTree>
    <p:extLst>
      <p:ext uri="{BB962C8B-B14F-4D97-AF65-F5344CB8AC3E}">
        <p14:creationId xmlns:p14="http://schemas.microsoft.com/office/powerpoint/2010/main" val="662467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88659D-DAA7-5916-FAA5-5A2210B5024D}"/>
              </a:ext>
            </a:extLst>
          </p:cNvPr>
          <p:cNvSpPr txBox="1"/>
          <p:nvPr/>
        </p:nvSpPr>
        <p:spPr>
          <a:xfrm>
            <a:off x="1137920" y="668246"/>
            <a:ext cx="991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Train </a:t>
            </a:r>
            <a:r>
              <a:rPr lang="en-US" b="1" dirty="0" err="1"/>
              <a:t>SAW_frames</a:t>
            </a:r>
            <a:r>
              <a:rPr lang="en-US" b="1" dirty="0"/>
              <a:t> → Test </a:t>
            </a:r>
            <a:r>
              <a:rPr lang="en-US" b="1" dirty="0" err="1"/>
              <a:t>SAW_frames_EntireSwim</a:t>
            </a:r>
            <a:r>
              <a:rPr lang="en-US" b="1" dirty="0"/>
              <a:t> (</a:t>
            </a:r>
            <a:r>
              <a:rPr lang="en-US" b="1" dirty="0" err="1"/>
              <a:t>thresholded</a:t>
            </a:r>
            <a:r>
              <a:rPr lang="en-US" b="1" dirty="0"/>
              <a:t>)</a:t>
            </a:r>
          </a:p>
          <a:p>
            <a:pPr algn="ctr"/>
            <a:br>
              <a:rPr lang="en-US" b="1" dirty="0"/>
            </a:br>
            <a:r>
              <a:rPr lang="en-US" b="1" dirty="0"/>
              <a:t>Analysis of the single KPs detections capability of the models</a:t>
            </a:r>
          </a:p>
        </p:txBody>
      </p:sp>
      <p:sp>
        <p:nvSpPr>
          <p:cNvPr id="17" name="Sottotitolo 2">
            <a:extLst>
              <a:ext uri="{FF2B5EF4-FFF2-40B4-BE49-F238E27FC236}">
                <a16:creationId xmlns:a16="http://schemas.microsoft.com/office/drawing/2014/main" id="{823D75A3-47BA-2508-5378-53554810D834}"/>
              </a:ext>
            </a:extLst>
          </p:cNvPr>
          <p:cNvSpPr txBox="1">
            <a:spLocks/>
          </p:cNvSpPr>
          <p:nvPr/>
        </p:nvSpPr>
        <p:spPr>
          <a:xfrm>
            <a:off x="2535296" y="140478"/>
            <a:ext cx="7553584" cy="43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Test results – Cross Test  (6/6) – Single KPs</a:t>
            </a:r>
            <a:endParaRPr lang="it-IT" b="1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64C34646-9992-3535-987F-AA9239EA0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468599"/>
              </p:ext>
            </p:extLst>
          </p:nvPr>
        </p:nvGraphicFramePr>
        <p:xfrm>
          <a:off x="329248" y="1838417"/>
          <a:ext cx="5012371" cy="4497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972">
                  <a:extLst>
                    <a:ext uri="{9D8B030D-6E8A-4147-A177-3AD203B41FA5}">
                      <a16:colId xmlns:a16="http://schemas.microsoft.com/office/drawing/2014/main" val="271470163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9056017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81657883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129817258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22441981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1130916312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994590409"/>
                    </a:ext>
                  </a:extLst>
                </a:gridCol>
              </a:tblGrid>
              <a:tr h="242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KP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Gruppo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P90 </a:t>
                      </a:r>
                      <a:r>
                        <a:rPr lang="it-IT" sz="1050" b="1" u="none" strike="noStrike" dirty="0" err="1">
                          <a:effectLst/>
                        </a:rPr>
                        <a:t>comb</a:t>
                      </a:r>
                      <a:r>
                        <a:rPr lang="it-IT" sz="1050" b="1" u="none" strike="noStrike" dirty="0">
                          <a:effectLst/>
                        </a:rPr>
                        <a:t>.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YOLO </a:t>
                      </a:r>
                      <a:r>
                        <a:rPr lang="it-IT" sz="1050" b="1" u="none" strike="noStrike" dirty="0" err="1">
                          <a:effectLst/>
                        </a:rPr>
                        <a:t>mean</a:t>
                      </a:r>
                      <a:r>
                        <a:rPr lang="it-IT" sz="1050" b="1" u="none" strike="noStrike" dirty="0">
                          <a:effectLst/>
                        </a:rPr>
                        <a:t> </a:t>
                      </a:r>
                      <a:r>
                        <a:rPr lang="it-IT" sz="1050" b="1" u="none" strike="noStrike" dirty="0" err="1">
                          <a:effectLst/>
                        </a:rPr>
                        <a:t>err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 err="1">
                          <a:effectLst/>
                        </a:rPr>
                        <a:t>VitPose</a:t>
                      </a:r>
                      <a:r>
                        <a:rPr lang="it-IT" sz="1050" b="1" u="none" strike="noStrike" dirty="0">
                          <a:effectLst/>
                        </a:rPr>
                        <a:t> </a:t>
                      </a:r>
                      <a:r>
                        <a:rPr lang="it-IT" sz="1050" b="1" u="none" strike="noStrike" dirty="0" err="1">
                          <a:effectLst/>
                        </a:rPr>
                        <a:t>mean</a:t>
                      </a:r>
                      <a:r>
                        <a:rPr lang="it-IT" sz="1050" b="1" u="none" strike="noStrike" dirty="0">
                          <a:effectLst/>
                        </a:rPr>
                        <a:t> </a:t>
                      </a:r>
                      <a:r>
                        <a:rPr lang="it-IT" sz="1050" b="1" u="none" strike="noStrike" dirty="0" err="1">
                          <a:effectLst/>
                        </a:rPr>
                        <a:t>err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Δ </a:t>
                      </a:r>
                      <a:br>
                        <a:rPr lang="it-IT" sz="1050" b="1" u="none" strike="noStrike" dirty="0">
                          <a:effectLst/>
                        </a:rPr>
                      </a:br>
                      <a:r>
                        <a:rPr lang="it-IT" sz="1050" b="1" u="none" strike="noStrike" dirty="0" err="1">
                          <a:effectLst/>
                        </a:rPr>
                        <a:t>mean</a:t>
                      </a:r>
                      <a:r>
                        <a:rPr lang="it-IT" sz="1050" b="1" u="none" strike="noStrike" dirty="0">
                          <a:effectLst/>
                        </a:rPr>
                        <a:t> </a:t>
                      </a:r>
                      <a:r>
                        <a:rPr lang="it-IT" sz="1050" b="1" u="none" strike="noStrike" dirty="0" err="1">
                          <a:effectLst/>
                        </a:rPr>
                        <a:t>err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50" b="1" u="none" strike="noStrike" dirty="0">
                          <a:effectLst/>
                        </a:rPr>
                        <a:t>Gain </a:t>
                      </a:r>
                      <a:r>
                        <a:rPr lang="it-IT" sz="1050" b="1" u="none" strike="noStrike" dirty="0" err="1">
                          <a:effectLst/>
                        </a:rPr>
                        <a:t>VitPose</a:t>
                      </a:r>
                      <a:endParaRPr lang="it-IT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189808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 err="1"/>
                        <a:t>right_ear</a:t>
                      </a:r>
                      <a:endParaRPr lang="it-IT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2.135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+0.198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+8.5%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22300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right_eye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4.651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2.592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2.482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+0.110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+4.2%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31985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4.893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2.595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2.604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−0.009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−0.3%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447154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left_eye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5.080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2.818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2.751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+0.068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+2.4%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009288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5.703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3.000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2.992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+0.009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+0.3%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48406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left_shoulder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5.802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2.993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3.132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−0.139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−4.6%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137359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Easy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5.987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3.277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3.295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−0.019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−0.6%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21601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 err="1"/>
                        <a:t>nose</a:t>
                      </a:r>
                      <a:endParaRPr lang="it-IT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 ●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6.069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3.287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3.369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−0.082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−2.5%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191560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right_shoulder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6.193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3.325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3.225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+0.100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491888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right_knee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6.418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3.762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+0.745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+19.8%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052474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 err="1"/>
                        <a:t>left_knee</a:t>
                      </a:r>
                      <a:endParaRPr lang="it-IT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Medium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6.850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4.308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+1.187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+27.6%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32266"/>
                  </a:ext>
                </a:extLst>
              </a:tr>
              <a:tr h="286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right_elbow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9.332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5.512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3.908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+1.604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+29.1%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23051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left_elbow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10.157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5.927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4.551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+1.376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+23.2%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74577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right_ankle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10.547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6.565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4.080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+2.485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+37.9%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059784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left_ankle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10.653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6.839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4.056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/>
                        <a:t>+2.783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+40.7%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158335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 err="1"/>
                        <a:t>right_wrist</a:t>
                      </a:r>
                      <a:endParaRPr lang="it-IT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>
                          <a:effectLst/>
                        </a:rPr>
                        <a:t>High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11.646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7.032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4.982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+2.050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+29.2%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388397"/>
                  </a:ext>
                </a:extLst>
              </a:tr>
              <a:tr h="242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 err="1"/>
                        <a:t>left_wrist</a:t>
                      </a:r>
                      <a:endParaRPr lang="it-IT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t-IT" sz="700" u="none" strike="noStrike" dirty="0" err="1">
                          <a:effectLst/>
                        </a:rPr>
                        <a:t>Challenging</a:t>
                      </a:r>
                      <a:endParaRPr lang="it-I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6" marR="5036" marT="503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13.539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7.962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5.044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900" dirty="0"/>
                        <a:t>+2.918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000" b="1" dirty="0"/>
                        <a:t>+36.7%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325101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86D0B2-18FB-73E3-A57A-0A9D43C1602B}"/>
              </a:ext>
            </a:extLst>
          </p:cNvPr>
          <p:cNvSpPr txBox="1"/>
          <p:nvPr/>
        </p:nvSpPr>
        <p:spPr>
          <a:xfrm>
            <a:off x="5882640" y="1838417"/>
            <a:ext cx="2545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Δ mean = YOLO mean − </a:t>
            </a:r>
            <a:r>
              <a:rPr lang="en-US" sz="1100" dirty="0" err="1"/>
              <a:t>VitPose</a:t>
            </a:r>
            <a:r>
              <a:rPr lang="en-US" sz="1100" dirty="0"/>
              <a:t> mean</a:t>
            </a:r>
            <a:endParaRPr lang="it-IT" sz="11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5D1E1F-5600-C8DF-A538-102C55481344}"/>
              </a:ext>
            </a:extLst>
          </p:cNvPr>
          <p:cNvSpPr txBox="1"/>
          <p:nvPr/>
        </p:nvSpPr>
        <p:spPr>
          <a:xfrm>
            <a:off x="5882640" y="2346868"/>
            <a:ext cx="59801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combined P90 metric allows to grade the difficulty to detect the KPs.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mean error of Yolo26x-Pose and </a:t>
            </a:r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++ models represent the quality of their predictions.</a:t>
            </a: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endParaRPr lang="en-US" sz="1400" dirty="0">
              <a:solidFill>
                <a:srgbClr val="1D1D1D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This table confirms that:</a:t>
            </a:r>
          </a:p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++ has overall better performance than Yolo26x-Pose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the advantage of </a:t>
            </a:r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VitPose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++ is not uniform but structured: it is minimal on easy </a:t>
            </a:r>
            <a:r>
              <a:rPr lang="en-US" sz="1400" dirty="0" err="1">
                <a:solidFill>
                  <a:srgbClr val="1D1D1D"/>
                </a:solidFill>
                <a:latin typeface="Segoe UI" panose="020B0502040204020203" pitchFamily="34" charset="0"/>
              </a:rPr>
              <a:t>keypoints</a:t>
            </a:r>
            <a:r>
              <a:rPr lang="en-US" sz="1400" dirty="0">
                <a:solidFill>
                  <a:srgbClr val="1D1D1D"/>
                </a:solidFill>
                <a:latin typeface="Segoe UI" panose="020B0502040204020203" pitchFamily="34" charset="0"/>
              </a:rPr>
              <a:t>, moderate on medium ones, and strong on difficult ones.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FE70088-C400-0A36-6E66-AAFC37A0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2492" y="6356350"/>
            <a:ext cx="6307016" cy="365125"/>
          </a:xfrm>
        </p:spPr>
        <p:txBody>
          <a:bodyPr/>
          <a:lstStyle/>
          <a:p>
            <a:r>
              <a:rPr lang="it-IT" dirty="0"/>
              <a:t>Alberto Scocco - PhD </a:t>
            </a:r>
            <a:r>
              <a:rPr lang="it-IT" dirty="0" err="1"/>
              <a:t>student</a:t>
            </a:r>
            <a:r>
              <a:rPr lang="it-IT" dirty="0"/>
              <a:t> from </a:t>
            </a:r>
            <a:r>
              <a:rPr lang="it-IT" dirty="0" err="1"/>
              <a:t>UnivPM</a:t>
            </a:r>
            <a:r>
              <a:rPr lang="it-IT" dirty="0"/>
              <a:t> - PhD Internship </a:t>
            </a:r>
            <a:r>
              <a:rPr lang="it-IT" dirty="0" err="1"/>
              <a:t>at</a:t>
            </a:r>
            <a:r>
              <a:rPr lang="it-IT" dirty="0"/>
              <a:t> CETINIA URJC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153D8A1-8EE2-9692-2A6F-57091526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B17F-A4B5-4302-9961-5A39DC8A32AA}" type="slidenum">
              <a:rPr lang="it-IT" smtClean="0"/>
              <a:t>20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9D8B918-FC26-B193-895B-8E48BAE01A24}"/>
              </a:ext>
            </a:extLst>
          </p:cNvPr>
          <p:cNvSpPr/>
          <p:nvPr/>
        </p:nvSpPr>
        <p:spPr>
          <a:xfrm>
            <a:off x="9159860" y="132662"/>
            <a:ext cx="303214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400" dirty="0">
                <a:solidFill>
                  <a:schemeClr val="tx1"/>
                </a:solidFill>
              </a:rPr>
              <a:t>Key </a:t>
            </a:r>
            <a:r>
              <a:rPr lang="it-IT" sz="1400" dirty="0" err="1">
                <a:solidFill>
                  <a:schemeClr val="tx1"/>
                </a:solidFill>
              </a:rPr>
              <a:t>question</a:t>
            </a:r>
            <a:r>
              <a:rPr lang="it-IT" sz="1400" dirty="0">
                <a:solidFill>
                  <a:schemeClr val="tx1"/>
                </a:solidFill>
              </a:rPr>
              <a:t> 4, 8, 9, 10</a:t>
            </a:r>
          </a:p>
        </p:txBody>
      </p:sp>
    </p:spTree>
    <p:extLst>
      <p:ext uri="{BB962C8B-B14F-4D97-AF65-F5344CB8AC3E}">
        <p14:creationId xmlns:p14="http://schemas.microsoft.com/office/powerpoint/2010/main" val="2393491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3837</Words>
  <Application>Microsoft Office PowerPoint</Application>
  <PresentationFormat>Widescreen</PresentationFormat>
  <Paragraphs>915</Paragraphs>
  <Slides>20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Segoe UI</vt:lpstr>
      <vt:lpstr>System</vt:lpstr>
      <vt:lpstr>Tema di Office</vt:lpstr>
      <vt:lpstr>Yolo26x-Pose vs Yolo26x-Detection  ||  VitPose++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SCOCCO ALBERTO</dc:creator>
  <cp:lastModifiedBy>SCOCCO ALBERTO</cp:lastModifiedBy>
  <cp:revision>9</cp:revision>
  <dcterms:created xsi:type="dcterms:W3CDTF">2026-06-15T18:22:33Z</dcterms:created>
  <dcterms:modified xsi:type="dcterms:W3CDTF">2026-06-23T21:18:40Z</dcterms:modified>
</cp:coreProperties>
</file>